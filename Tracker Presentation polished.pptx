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71" d="100"/>
          <a:sy n="171" d="100"/>
        </p:scale>
        <p:origin x="323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ullen Henderson" userId="30f7315b5167906e" providerId="LiveId" clId="{89FCC57B-A097-40F1-96D5-9230F548B7F1}"/>
    <pc:docChg chg="custSel addSld delSld modSld">
      <pc:chgData name="Cullen Henderson" userId="30f7315b5167906e" providerId="LiveId" clId="{89FCC57B-A097-40F1-96D5-9230F548B7F1}" dt="2026-04-24T01:14:16.292" v="287" actId="20577"/>
      <pc:docMkLst>
        <pc:docMk/>
      </pc:docMkLst>
      <pc:sldChg chg="delSp mod">
        <pc:chgData name="Cullen Henderson" userId="30f7315b5167906e" providerId="LiveId" clId="{89FCC57B-A097-40F1-96D5-9230F548B7F1}" dt="2026-04-23T23:10:23.272" v="1" actId="478"/>
        <pc:sldMkLst>
          <pc:docMk/>
          <pc:sldMk cId="65317066" sldId="256"/>
        </pc:sldMkLst>
        <pc:spChg chg="del">
          <ac:chgData name="Cullen Henderson" userId="30f7315b5167906e" providerId="LiveId" clId="{89FCC57B-A097-40F1-96D5-9230F548B7F1}" dt="2026-04-23T23:10:20.864" v="0" actId="478"/>
          <ac:spMkLst>
            <pc:docMk/>
            <pc:sldMk cId="65317066" sldId="256"/>
            <ac:spMk id="5" creationId="{333E5EF1-7E4C-49C5-9953-C17CFA570FBA}"/>
          </ac:spMkLst>
        </pc:spChg>
        <pc:spChg chg="del">
          <ac:chgData name="Cullen Henderson" userId="30f7315b5167906e" providerId="LiveId" clId="{89FCC57B-A097-40F1-96D5-9230F548B7F1}" dt="2026-04-23T23:10:23.272" v="1" actId="478"/>
          <ac:spMkLst>
            <pc:docMk/>
            <pc:sldMk cId="65317066" sldId="256"/>
            <ac:spMk id="50" creationId="{5A0C7F78-C0BF-4D77-B44B-DD2F9EE8E26C}"/>
          </ac:spMkLst>
        </pc:spChg>
      </pc:sldChg>
      <pc:sldChg chg="delSp mod">
        <pc:chgData name="Cullen Henderson" userId="30f7315b5167906e" providerId="LiveId" clId="{89FCC57B-A097-40F1-96D5-9230F548B7F1}" dt="2026-04-23T23:10:26.928" v="2" actId="478"/>
        <pc:sldMkLst>
          <pc:docMk/>
          <pc:sldMk cId="858989926" sldId="257"/>
        </pc:sldMkLst>
        <pc:spChg chg="del">
          <ac:chgData name="Cullen Henderson" userId="30f7315b5167906e" providerId="LiveId" clId="{89FCC57B-A097-40F1-96D5-9230F548B7F1}" dt="2026-04-23T23:10:26.928" v="2" actId="478"/>
          <ac:spMkLst>
            <pc:docMk/>
            <pc:sldMk cId="858989926" sldId="257"/>
            <ac:spMk id="36" creationId="{5A0C7F78-C0BF-4D77-B44B-DD2F9EE8E26C}"/>
          </ac:spMkLst>
        </pc:spChg>
      </pc:sldChg>
      <pc:sldChg chg="delSp del mod">
        <pc:chgData name="Cullen Henderson" userId="30f7315b5167906e" providerId="LiveId" clId="{89FCC57B-A097-40F1-96D5-9230F548B7F1}" dt="2026-04-23T23:14:07.325" v="33" actId="47"/>
        <pc:sldMkLst>
          <pc:docMk/>
          <pc:sldMk cId="1809308597" sldId="258"/>
        </pc:sldMkLst>
        <pc:spChg chg="del">
          <ac:chgData name="Cullen Henderson" userId="30f7315b5167906e" providerId="LiveId" clId="{89FCC57B-A097-40F1-96D5-9230F548B7F1}" dt="2026-04-23T23:10:30.347" v="3" actId="478"/>
          <ac:spMkLst>
            <pc:docMk/>
            <pc:sldMk cId="1809308597" sldId="258"/>
            <ac:spMk id="5" creationId="{589AA97B-50BB-48D8-BB00-C9541607D84C}"/>
          </ac:spMkLst>
        </pc:spChg>
        <pc:spChg chg="del">
          <ac:chgData name="Cullen Henderson" userId="30f7315b5167906e" providerId="LiveId" clId="{89FCC57B-A097-40F1-96D5-9230F548B7F1}" dt="2026-04-23T23:10:31.857" v="4" actId="478"/>
          <ac:spMkLst>
            <pc:docMk/>
            <pc:sldMk cId="1809308597" sldId="258"/>
            <ac:spMk id="49" creationId="{5A0C7F78-C0BF-4D77-B44B-DD2F9EE8E26C}"/>
          </ac:spMkLst>
        </pc:spChg>
      </pc:sldChg>
      <pc:sldChg chg="delSp mod">
        <pc:chgData name="Cullen Henderson" userId="30f7315b5167906e" providerId="LiveId" clId="{89FCC57B-A097-40F1-96D5-9230F548B7F1}" dt="2026-04-23T23:10:34.957" v="5" actId="478"/>
        <pc:sldMkLst>
          <pc:docMk/>
          <pc:sldMk cId="674417377" sldId="259"/>
        </pc:sldMkLst>
        <pc:spChg chg="del">
          <ac:chgData name="Cullen Henderson" userId="30f7315b5167906e" providerId="LiveId" clId="{89FCC57B-A097-40F1-96D5-9230F548B7F1}" dt="2026-04-23T23:10:34.957" v="5" actId="478"/>
          <ac:spMkLst>
            <pc:docMk/>
            <pc:sldMk cId="674417377" sldId="259"/>
            <ac:spMk id="39" creationId="{5A0C7F78-C0BF-4D77-B44B-DD2F9EE8E26C}"/>
          </ac:spMkLst>
        </pc:spChg>
      </pc:sldChg>
      <pc:sldChg chg="delSp modSp mod">
        <pc:chgData name="Cullen Henderson" userId="30f7315b5167906e" providerId="LiveId" clId="{89FCC57B-A097-40F1-96D5-9230F548B7F1}" dt="2026-04-23T23:14:38.730" v="37" actId="1076"/>
        <pc:sldMkLst>
          <pc:docMk/>
          <pc:sldMk cId="1327903768" sldId="260"/>
        </pc:sldMkLst>
        <pc:spChg chg="mod">
          <ac:chgData name="Cullen Henderson" userId="30f7315b5167906e" providerId="LiveId" clId="{89FCC57B-A097-40F1-96D5-9230F548B7F1}" dt="2026-04-23T23:10:49.010" v="8" actId="1076"/>
          <ac:spMkLst>
            <pc:docMk/>
            <pc:sldMk cId="1327903768" sldId="260"/>
            <ac:spMk id="10" creationId="{6544D94E-3005-447F-B0C5-7D7D13EDD3D2}"/>
          </ac:spMkLst>
        </pc:spChg>
        <pc:spChg chg="mod">
          <ac:chgData name="Cullen Henderson" userId="30f7315b5167906e" providerId="LiveId" clId="{89FCC57B-A097-40F1-96D5-9230F548B7F1}" dt="2026-04-23T23:14:36.322" v="36" actId="1076"/>
          <ac:spMkLst>
            <pc:docMk/>
            <pc:sldMk cId="1327903768" sldId="260"/>
            <ac:spMk id="22" creationId="{AF3119D6-B959-40DD-9EFC-A2BF869D94BC}"/>
          </ac:spMkLst>
        </pc:spChg>
        <pc:spChg chg="mod">
          <ac:chgData name="Cullen Henderson" userId="30f7315b5167906e" providerId="LiveId" clId="{89FCC57B-A097-40F1-96D5-9230F548B7F1}" dt="2026-04-23T23:14:38.730" v="37" actId="1076"/>
          <ac:spMkLst>
            <pc:docMk/>
            <pc:sldMk cId="1327903768" sldId="260"/>
            <ac:spMk id="23" creationId="{C44DB73B-58CD-478F-AF95-63C0DC3326D1}"/>
          </ac:spMkLst>
        </pc:spChg>
        <pc:spChg chg="mod">
          <ac:chgData name="Cullen Henderson" userId="30f7315b5167906e" providerId="LiveId" clId="{89FCC57B-A097-40F1-96D5-9230F548B7F1}" dt="2026-04-23T23:14:28.098" v="34" actId="1076"/>
          <ac:spMkLst>
            <pc:docMk/>
            <pc:sldMk cId="1327903768" sldId="260"/>
            <ac:spMk id="28" creationId="{7F560C06-64AA-4967-8B95-439314DDCDC9}"/>
          </ac:spMkLst>
        </pc:spChg>
        <pc:spChg chg="mod">
          <ac:chgData name="Cullen Henderson" userId="30f7315b5167906e" providerId="LiveId" clId="{89FCC57B-A097-40F1-96D5-9230F548B7F1}" dt="2026-04-23T23:14:30.482" v="35" actId="1076"/>
          <ac:spMkLst>
            <pc:docMk/>
            <pc:sldMk cId="1327903768" sldId="260"/>
            <ac:spMk id="29" creationId="{7EC838D3-16E9-4002-BF53-72C644B9F90C}"/>
          </ac:spMkLst>
        </pc:spChg>
        <pc:spChg chg="del mod">
          <ac:chgData name="Cullen Henderson" userId="30f7315b5167906e" providerId="LiveId" clId="{89FCC57B-A097-40F1-96D5-9230F548B7F1}" dt="2026-04-23T23:10:47.045" v="7" actId="478"/>
          <ac:spMkLst>
            <pc:docMk/>
            <pc:sldMk cId="1327903768" sldId="260"/>
            <ac:spMk id="30" creationId="{5A0C7F78-C0BF-4D77-B44B-DD2F9EE8E26C}"/>
          </ac:spMkLst>
        </pc:spChg>
      </pc:sldChg>
      <pc:sldChg chg="delSp modSp mod">
        <pc:chgData name="Cullen Henderson" userId="30f7315b5167906e" providerId="LiveId" clId="{89FCC57B-A097-40F1-96D5-9230F548B7F1}" dt="2026-04-23T23:16:14.226" v="47" actId="1076"/>
        <pc:sldMkLst>
          <pc:docMk/>
          <pc:sldMk cId="1363406700" sldId="261"/>
        </pc:sldMkLst>
        <pc:spChg chg="mod">
          <ac:chgData name="Cullen Henderson" userId="30f7315b5167906e" providerId="LiveId" clId="{89FCC57B-A097-40F1-96D5-9230F548B7F1}" dt="2026-04-23T23:15:41.074" v="42" actId="1076"/>
          <ac:spMkLst>
            <pc:docMk/>
            <pc:sldMk cId="1363406700" sldId="261"/>
            <ac:spMk id="36" creationId="{15F273D7-75A6-488D-9F1F-3B1DC1DA7421}"/>
          </ac:spMkLst>
        </pc:spChg>
        <pc:spChg chg="mod">
          <ac:chgData name="Cullen Henderson" userId="30f7315b5167906e" providerId="LiveId" clId="{89FCC57B-A097-40F1-96D5-9230F548B7F1}" dt="2026-04-23T23:15:54.234" v="44" actId="1076"/>
          <ac:spMkLst>
            <pc:docMk/>
            <pc:sldMk cId="1363406700" sldId="261"/>
            <ac:spMk id="37" creationId="{411E832C-B644-4408-9A1E-5925779F14EB}"/>
          </ac:spMkLst>
        </pc:spChg>
        <pc:spChg chg="mod">
          <ac:chgData name="Cullen Henderson" userId="30f7315b5167906e" providerId="LiveId" clId="{89FCC57B-A097-40F1-96D5-9230F548B7F1}" dt="2026-04-23T23:15:35.826" v="41" actId="1076"/>
          <ac:spMkLst>
            <pc:docMk/>
            <pc:sldMk cId="1363406700" sldId="261"/>
            <ac:spMk id="38" creationId="{C8E00565-26DB-4CAC-B35D-0CDFD93543C7}"/>
          </ac:spMkLst>
        </pc:spChg>
        <pc:spChg chg="mod">
          <ac:chgData name="Cullen Henderson" userId="30f7315b5167906e" providerId="LiveId" clId="{89FCC57B-A097-40F1-96D5-9230F548B7F1}" dt="2026-04-23T23:16:03.289" v="45" actId="1076"/>
          <ac:spMkLst>
            <pc:docMk/>
            <pc:sldMk cId="1363406700" sldId="261"/>
            <ac:spMk id="39" creationId="{7B3076AE-3B46-404B-A60F-DEB145AA8930}"/>
          </ac:spMkLst>
        </pc:spChg>
        <pc:spChg chg="mod">
          <ac:chgData name="Cullen Henderson" userId="30f7315b5167906e" providerId="LiveId" clId="{89FCC57B-A097-40F1-96D5-9230F548B7F1}" dt="2026-04-23T23:16:08.898" v="46" actId="1076"/>
          <ac:spMkLst>
            <pc:docMk/>
            <pc:sldMk cId="1363406700" sldId="261"/>
            <ac:spMk id="40" creationId="{ECAB305E-599C-4C7E-83AC-F5BE446696D9}"/>
          </ac:spMkLst>
        </pc:spChg>
        <pc:spChg chg="mod">
          <ac:chgData name="Cullen Henderson" userId="30f7315b5167906e" providerId="LiveId" clId="{89FCC57B-A097-40F1-96D5-9230F548B7F1}" dt="2026-04-23T23:16:14.226" v="47" actId="1076"/>
          <ac:spMkLst>
            <pc:docMk/>
            <pc:sldMk cId="1363406700" sldId="261"/>
            <ac:spMk id="41" creationId="{CE02CCA8-CD97-49F5-8A20-0F4228213724}"/>
          </ac:spMkLst>
        </pc:spChg>
        <pc:spChg chg="del">
          <ac:chgData name="Cullen Henderson" userId="30f7315b5167906e" providerId="LiveId" clId="{89FCC57B-A097-40F1-96D5-9230F548B7F1}" dt="2026-04-23T23:10:54.997" v="9" actId="478"/>
          <ac:spMkLst>
            <pc:docMk/>
            <pc:sldMk cId="1363406700" sldId="261"/>
            <ac:spMk id="42" creationId="{5A0C7F78-C0BF-4D77-B44B-DD2F9EE8E26C}"/>
          </ac:spMkLst>
        </pc:spChg>
      </pc:sldChg>
      <pc:sldChg chg="delSp modSp mod">
        <pc:chgData name="Cullen Henderson" userId="30f7315b5167906e" providerId="LiveId" clId="{89FCC57B-A097-40F1-96D5-9230F548B7F1}" dt="2026-04-23T23:13:06.513" v="32" actId="1076"/>
        <pc:sldMkLst>
          <pc:docMk/>
          <pc:sldMk cId="1862212576" sldId="262"/>
        </pc:sldMkLst>
        <pc:spChg chg="del">
          <ac:chgData name="Cullen Henderson" userId="30f7315b5167906e" providerId="LiveId" clId="{89FCC57B-A097-40F1-96D5-9230F548B7F1}" dt="2026-04-23T23:11:37.879" v="15" actId="478"/>
          <ac:spMkLst>
            <pc:docMk/>
            <pc:sldMk cId="1862212576" sldId="262"/>
            <ac:spMk id="13" creationId="{C067CAAA-0023-405E-BC6A-2D88CC6E8E2A}"/>
          </ac:spMkLst>
        </pc:spChg>
        <pc:spChg chg="del mod">
          <ac:chgData name="Cullen Henderson" userId="30f7315b5167906e" providerId="LiveId" clId="{89FCC57B-A097-40F1-96D5-9230F548B7F1}" dt="2026-04-23T23:11:33.846" v="14" actId="478"/>
          <ac:spMkLst>
            <pc:docMk/>
            <pc:sldMk cId="1862212576" sldId="262"/>
            <ac:spMk id="14" creationId="{8B956DBD-A0D8-4E62-9FE6-24CCDBF07FB4}"/>
          </ac:spMkLst>
        </pc:spChg>
        <pc:spChg chg="mod">
          <ac:chgData name="Cullen Henderson" userId="30f7315b5167906e" providerId="LiveId" clId="{89FCC57B-A097-40F1-96D5-9230F548B7F1}" dt="2026-04-23T23:11:45.866" v="17" actId="1076"/>
          <ac:spMkLst>
            <pc:docMk/>
            <pc:sldMk cId="1862212576" sldId="262"/>
            <ac:spMk id="15" creationId="{5C276AC4-BE64-4CAB-B427-85879E25CE84}"/>
          </ac:spMkLst>
        </pc:spChg>
        <pc:spChg chg="mod">
          <ac:chgData name="Cullen Henderson" userId="30f7315b5167906e" providerId="LiveId" clId="{89FCC57B-A097-40F1-96D5-9230F548B7F1}" dt="2026-04-23T23:12:59.834" v="30" actId="1076"/>
          <ac:spMkLst>
            <pc:docMk/>
            <pc:sldMk cId="1862212576" sldId="262"/>
            <ac:spMk id="16" creationId="{18E3B126-A98D-4F20-B67C-8868A7D64638}"/>
          </ac:spMkLst>
        </pc:spChg>
        <pc:spChg chg="mod">
          <ac:chgData name="Cullen Henderson" userId="30f7315b5167906e" providerId="LiveId" clId="{89FCC57B-A097-40F1-96D5-9230F548B7F1}" dt="2026-04-23T23:13:06.513" v="32" actId="1076"/>
          <ac:spMkLst>
            <pc:docMk/>
            <pc:sldMk cId="1862212576" sldId="262"/>
            <ac:spMk id="17" creationId="{03B2890A-DA80-4B4E-8DA9-3E99772AB8CA}"/>
          </ac:spMkLst>
        </pc:spChg>
        <pc:spChg chg="mod">
          <ac:chgData name="Cullen Henderson" userId="30f7315b5167906e" providerId="LiveId" clId="{89FCC57B-A097-40F1-96D5-9230F548B7F1}" dt="2026-04-23T23:13:03.522" v="31" actId="1076"/>
          <ac:spMkLst>
            <pc:docMk/>
            <pc:sldMk cId="1862212576" sldId="262"/>
            <ac:spMk id="18" creationId="{213A3D6B-64FF-4B9E-A134-B04BB2268FF4}"/>
          </ac:spMkLst>
        </pc:spChg>
        <pc:spChg chg="mod">
          <ac:chgData name="Cullen Henderson" userId="30f7315b5167906e" providerId="LiveId" clId="{89FCC57B-A097-40F1-96D5-9230F548B7F1}" dt="2026-04-23T23:12:48.858" v="29" actId="1076"/>
          <ac:spMkLst>
            <pc:docMk/>
            <pc:sldMk cId="1862212576" sldId="262"/>
            <ac:spMk id="27" creationId="{572E5728-7CB9-4D4F-9DB7-63600F069204}"/>
          </ac:spMkLst>
        </pc:spChg>
        <pc:spChg chg="mod">
          <ac:chgData name="Cullen Henderson" userId="30f7315b5167906e" providerId="LiveId" clId="{89FCC57B-A097-40F1-96D5-9230F548B7F1}" dt="2026-04-23T23:12:44.370" v="28" actId="1076"/>
          <ac:spMkLst>
            <pc:docMk/>
            <pc:sldMk cId="1862212576" sldId="262"/>
            <ac:spMk id="28" creationId="{8BEB7080-48E6-4830-8E7B-6BF36AB08EF7}"/>
          </ac:spMkLst>
        </pc:spChg>
        <pc:spChg chg="mod">
          <ac:chgData name="Cullen Henderson" userId="30f7315b5167906e" providerId="LiveId" clId="{89FCC57B-A097-40F1-96D5-9230F548B7F1}" dt="2026-04-23T23:12:08.154" v="22" actId="1076"/>
          <ac:spMkLst>
            <pc:docMk/>
            <pc:sldMk cId="1862212576" sldId="262"/>
            <ac:spMk id="29" creationId="{F3A27AE7-5CD8-4B49-84A5-D6ABCA795576}"/>
          </ac:spMkLst>
        </pc:spChg>
        <pc:spChg chg="mod">
          <ac:chgData name="Cullen Henderson" userId="30f7315b5167906e" providerId="LiveId" clId="{89FCC57B-A097-40F1-96D5-9230F548B7F1}" dt="2026-04-23T23:12:05.953" v="21" actId="1076"/>
          <ac:spMkLst>
            <pc:docMk/>
            <pc:sldMk cId="1862212576" sldId="262"/>
            <ac:spMk id="35" creationId="{AD17E68A-BD45-43DB-A536-3F29E6FAE905}"/>
          </ac:spMkLst>
        </pc:spChg>
        <pc:spChg chg="mod">
          <ac:chgData name="Cullen Henderson" userId="30f7315b5167906e" providerId="LiveId" clId="{89FCC57B-A097-40F1-96D5-9230F548B7F1}" dt="2026-04-23T23:12:02.842" v="20" actId="1076"/>
          <ac:spMkLst>
            <pc:docMk/>
            <pc:sldMk cId="1862212576" sldId="262"/>
            <ac:spMk id="36" creationId="{B0FB93A9-812D-4D24-AB4D-87A2C7B78324}"/>
          </ac:spMkLst>
        </pc:spChg>
        <pc:spChg chg="mod">
          <ac:chgData name="Cullen Henderson" userId="30f7315b5167906e" providerId="LiveId" clId="{89FCC57B-A097-40F1-96D5-9230F548B7F1}" dt="2026-04-23T23:12:16.475" v="24" actId="1076"/>
          <ac:spMkLst>
            <pc:docMk/>
            <pc:sldMk cId="1862212576" sldId="262"/>
            <ac:spMk id="37" creationId="{4A8EA1E1-43DE-4EE5-B6C7-F5FE6BB92C01}"/>
          </ac:spMkLst>
        </pc:spChg>
        <pc:spChg chg="mod">
          <ac:chgData name="Cullen Henderson" userId="30f7315b5167906e" providerId="LiveId" clId="{89FCC57B-A097-40F1-96D5-9230F548B7F1}" dt="2026-04-23T23:12:12.658" v="23" actId="1076"/>
          <ac:spMkLst>
            <pc:docMk/>
            <pc:sldMk cId="1862212576" sldId="262"/>
            <ac:spMk id="38" creationId="{07B60234-9F98-48A1-8A5B-DFFC7186B510}"/>
          </ac:spMkLst>
        </pc:spChg>
        <pc:spChg chg="del">
          <ac:chgData name="Cullen Henderson" userId="30f7315b5167906e" providerId="LiveId" clId="{89FCC57B-A097-40F1-96D5-9230F548B7F1}" dt="2026-04-23T23:10:58.864" v="10" actId="478"/>
          <ac:spMkLst>
            <pc:docMk/>
            <pc:sldMk cId="1862212576" sldId="262"/>
            <ac:spMk id="51" creationId="{5A0C7F78-C0BF-4D77-B44B-DD2F9EE8E26C}"/>
          </ac:spMkLst>
        </pc:spChg>
      </pc:sldChg>
      <pc:sldChg chg="delSp mod">
        <pc:chgData name="Cullen Henderson" userId="30f7315b5167906e" providerId="LiveId" clId="{89FCC57B-A097-40F1-96D5-9230F548B7F1}" dt="2026-04-23T23:11:03.534" v="12" actId="478"/>
        <pc:sldMkLst>
          <pc:docMk/>
          <pc:sldMk cId="1886812062" sldId="263"/>
        </pc:sldMkLst>
        <pc:spChg chg="del">
          <ac:chgData name="Cullen Henderson" userId="30f7315b5167906e" providerId="LiveId" clId="{89FCC57B-A097-40F1-96D5-9230F548B7F1}" dt="2026-04-23T23:11:01.848" v="11" actId="478"/>
          <ac:spMkLst>
            <pc:docMk/>
            <pc:sldMk cId="1886812062" sldId="263"/>
            <ac:spMk id="5" creationId="{09138628-D7B1-4825-8920-7979E7750BCA}"/>
          </ac:spMkLst>
        </pc:spChg>
        <pc:spChg chg="del">
          <ac:chgData name="Cullen Henderson" userId="30f7315b5167906e" providerId="LiveId" clId="{89FCC57B-A097-40F1-96D5-9230F548B7F1}" dt="2026-04-23T23:11:03.534" v="12" actId="478"/>
          <ac:spMkLst>
            <pc:docMk/>
            <pc:sldMk cId="1886812062" sldId="263"/>
            <ac:spMk id="27" creationId="{5A0C7F78-C0BF-4D77-B44B-DD2F9EE8E26C}"/>
          </ac:spMkLst>
        </pc:spChg>
      </pc:sldChg>
      <pc:sldChg chg="modSp new mod">
        <pc:chgData name="Cullen Henderson" userId="30f7315b5167906e" providerId="LiveId" clId="{89FCC57B-A097-40F1-96D5-9230F548B7F1}" dt="2026-04-24T01:14:16.292" v="287" actId="20577"/>
        <pc:sldMkLst>
          <pc:docMk/>
          <pc:sldMk cId="3558011398" sldId="264"/>
        </pc:sldMkLst>
        <pc:spChg chg="mod">
          <ac:chgData name="Cullen Henderson" userId="30f7315b5167906e" providerId="LiveId" clId="{89FCC57B-A097-40F1-96D5-9230F548B7F1}" dt="2026-04-24T01:01:01.884" v="272" actId="1076"/>
          <ac:spMkLst>
            <pc:docMk/>
            <pc:sldMk cId="3558011398" sldId="264"/>
            <ac:spMk id="2" creationId="{909BC3F3-82FA-9E84-242F-A2A6F374568A}"/>
          </ac:spMkLst>
        </pc:spChg>
        <pc:spChg chg="mod">
          <ac:chgData name="Cullen Henderson" userId="30f7315b5167906e" providerId="LiveId" clId="{89FCC57B-A097-40F1-96D5-9230F548B7F1}" dt="2026-04-24T01:14:16.292" v="287" actId="20577"/>
          <ac:spMkLst>
            <pc:docMk/>
            <pc:sldMk cId="3558011398" sldId="264"/>
            <ac:spMk id="3" creationId="{6B92F306-15B1-92D2-DF8E-DA57C352808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mission: this is the transition from spreadsheet budgeting to a live, briefing-ready planning surface. Briefly point to the three screenshots as proof the product already spans executive view, unit planning, and reporting.</a:t>
            </a:r>
          </a:p>
          <a:p>
            <a:endParaRPr/>
          </a:p>
          <a:p>
            <a:r>
              <a:t>Sources:</a:t>
            </a:r>
          </a:p>
          <a:p>
            <a:r>
              <a:t>- README.md</a:t>
            </a:r>
          </a:p>
          <a:p>
            <a:r>
              <a:t>- USER_GUIDE.md</a:t>
            </a:r>
          </a:p>
          <a:p>
            <a:r>
              <a:t>- ChinaTracker_PRD_v2.md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five steps from left to right. Emphasize that the app follows the planning rhythm users already know, but the rollups and calculations happen automatically in the background.</a:t>
            </a:r>
          </a:p>
          <a:p>
            <a:endParaRPr/>
          </a:p>
          <a:p>
            <a:r>
              <a:t>Sources:</a:t>
            </a:r>
          </a:p>
          <a:p>
            <a:r>
              <a:t>- README.md</a:t>
            </a:r>
          </a:p>
          <a:p>
            <a:r>
              <a:t>- USER_GUIDE.md</a:t>
            </a:r>
          </a:p>
          <a:p>
            <a:r>
              <a:t>- ChinaTracker_PRD_v2.md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summarize what matters operationally: real-time totals, structured unit inputs, reporting, refinements, and safety controls like clear actions and undo.</a:t>
            </a:r>
          </a:p>
          <a:p>
            <a:endParaRPr/>
          </a:p>
          <a:p>
            <a:r>
              <a:t>Sources:</a:t>
            </a:r>
          </a:p>
          <a:p>
            <a:r>
              <a:t>- README.md</a:t>
            </a:r>
          </a:p>
          <a:p>
            <a:r>
              <a:t>- USER_GUIDE.md</a:t>
            </a:r>
          </a:p>
          <a:p>
            <a:r>
              <a:t>- ChinaTracker_PRD_v2.md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During the live portion, show how leadership can read total cost, funding split, unit table, and visual charts from one screen. This is the fastest way to orient a room.</a:t>
            </a:r>
          </a:p>
          <a:p>
            <a:endParaRPr/>
          </a:p>
          <a:p>
            <a:r>
              <a:t>Sources:</a:t>
            </a:r>
          </a:p>
          <a:p>
            <a:r>
              <a:t>- README.md</a:t>
            </a:r>
          </a:p>
          <a:p>
            <a:r>
              <a:t>- USER_GUIDE.md</a:t>
            </a:r>
          </a:p>
          <a:p>
            <a:r>
              <a:t>- ChinaTracker_PRD_v2.md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shows that the same data model supports detailed unit planning and polished reporting. It also highlights that follow-up work can now be tracked inside the tool instead of on side notes.</a:t>
            </a:r>
          </a:p>
          <a:p>
            <a:endParaRPr/>
          </a:p>
          <a:p>
            <a:r>
              <a:t>Sources:</a:t>
            </a:r>
          </a:p>
          <a:p>
            <a:r>
              <a:t>- README.md</a:t>
            </a:r>
          </a:p>
          <a:p>
            <a:r>
              <a:t>- USER_GUIDE.md</a:t>
            </a:r>
          </a:p>
          <a:p>
            <a:r>
              <a:t>- ChinaTracker_PRD_v2.md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roadmap as realistic extensions of the current foundation: approvals, scenario management, portfolio visibility, and decision support. The point is that the current app can grow into a platform.</a:t>
            </a:r>
          </a:p>
          <a:p>
            <a:endParaRPr/>
          </a:p>
          <a:p>
            <a:r>
              <a:t>Sources:</a:t>
            </a:r>
          </a:p>
          <a:p>
            <a:r>
              <a:t>- README.md</a:t>
            </a:r>
          </a:p>
          <a:p>
            <a:r>
              <a:t>- USER_GUIDE.md</a:t>
            </a:r>
          </a:p>
          <a:p>
            <a:r>
              <a:t>- ChinaTracker_PRD_v2.md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on outcomes: faster decisions, better traceability, and cleaner leadership briefings. This should leave the audience with confidence that the app is useful now and expandable later.</a:t>
            </a:r>
          </a:p>
          <a:p>
            <a:endParaRPr/>
          </a:p>
          <a:p>
            <a:r>
              <a:t>Sources:</a:t>
            </a:r>
          </a:p>
          <a:p>
            <a:r>
              <a:t>- README.md</a:t>
            </a:r>
          </a:p>
          <a:p>
            <a:r>
              <a:t>- USER_GUIDE.md</a:t>
            </a:r>
          </a:p>
          <a:p>
            <a:r>
              <a:t>- ChinaTracker_PRD_v2.md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948DA79-F307-4B95-A982-020BB33FD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42D3C55-7DE3-4ACC-BA16-CF93554845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AA234C5-CFB1-4EE2-A115-2FA2A78B0B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C1C22DF-DC7F-4C8E-A666-8D3E6C2AF7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A0C7F78-C0BF-4D77-B44B-DD2F9EE8E2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201335B-AC42-4932-BE8A-AAA835595CE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13D8AB0-36CF-4551-AD4A-E0566F1B0821}"/>
              </a:ext>
            </a:extLst>
          </p:cNvPr>
          <p:cNvSpPr>
            <a:spLocks noGrp="1"/>
          </p:cNvSpPr>
          <p:nvPr/>
        </p:nvSpPr>
        <p:spPr>
          <a:xfrm>
            <a:off x="-1047750" y="-762000"/>
            <a:ext cx="3429000" cy="3429000"/>
          </a:xfrm>
          <a:prstGeom prst="ellipse">
            <a:avLst/>
          </a:prstGeom>
          <a:solidFill>
            <a:srgbClr val="153A73">
              <a:alpha val="2509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05F5977-5F33-4D78-AABB-9375EDF51B0E}"/>
              </a:ext>
            </a:extLst>
          </p:cNvPr>
          <p:cNvSpPr>
            <a:spLocks noGrp="1"/>
          </p:cNvSpPr>
          <p:nvPr/>
        </p:nvSpPr>
        <p:spPr>
          <a:xfrm>
            <a:off x="9620250" y="-1143000"/>
            <a:ext cx="3143250" cy="3143250"/>
          </a:xfrm>
          <a:prstGeom prst="ellipse">
            <a:avLst/>
          </a:prstGeom>
          <a:solidFill>
            <a:srgbClr val="1CB7A6">
              <a:alpha val="18824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8E48279-4D0C-4D0D-A18E-EF26DFBABFB1}"/>
              </a:ext>
            </a:extLst>
          </p:cNvPr>
          <p:cNvSpPr>
            <a:spLocks noGrp="1"/>
          </p:cNvSpPr>
          <p:nvPr/>
        </p:nvSpPr>
        <p:spPr>
          <a:xfrm>
            <a:off x="9334500" y="4857750"/>
            <a:ext cx="3619500" cy="3619500"/>
          </a:xfrm>
          <a:prstGeom prst="ellipse">
            <a:avLst/>
          </a:prstGeom>
          <a:solidFill>
            <a:srgbClr val="2B78FF">
              <a:alpha val="1254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6CCB92-B8E9-42EC-AF10-C8556DE43880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CB7A6"/>
                </a:solidFill>
              </a:defRPr>
            </a:pPr>
            <a:r>
              <a:rPr sz="900" b="1">
                <a:solidFill>
                  <a:srgbClr val="1CB7A6"/>
                </a:solidFill>
              </a:rPr>
              <a:t>EXECUTIVE BRIEF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62989E-1DE8-4C99-848B-DBF9039140A7}"/>
              </a:ext>
            </a:extLst>
          </p:cNvPr>
          <p:cNvSpPr>
            <a:spLocks noGrp="1"/>
          </p:cNvSpPr>
          <p:nvPr/>
        </p:nvSpPr>
        <p:spPr>
          <a:xfrm>
            <a:off x="10287000" y="3810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CB7A6"/>
                </a:solidFill>
              </a:defRPr>
            </a:pPr>
            <a:r>
              <a:rPr sz="900" b="1">
                <a:solidFill>
                  <a:srgbClr val="1CB7A6"/>
                </a:solidFill>
              </a:rPr>
              <a:t>01 / 08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D19DF7-B71B-4BF6-B31B-F31E9DEAC029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2190750" cy="285750"/>
          </a:xfrm>
          <a:prstGeom prst="roundRect">
            <a:avLst>
              <a:gd name="adj" fmla="val 26667"/>
            </a:avLst>
          </a:prstGeom>
          <a:solidFill>
            <a:srgbClr val="D9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D7A2EA-7956-4320-8392-320FEF6F72D1}"/>
              </a:ext>
            </a:extLst>
          </p:cNvPr>
          <p:cNvSpPr>
            <a:spLocks noGrp="1"/>
          </p:cNvSpPr>
          <p:nvPr/>
        </p:nvSpPr>
        <p:spPr>
          <a:xfrm>
            <a:off x="800100" y="942975"/>
            <a:ext cx="1924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PATRIOT MEDIC | CHINA TRACKER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D2EB5A-5B5A-4949-9363-3DD2C1E051AA}"/>
              </a:ext>
            </a:extLst>
          </p:cNvPr>
          <p:cNvSpPr>
            <a:spLocks noGrp="1"/>
          </p:cNvSpPr>
          <p:nvPr/>
        </p:nvSpPr>
        <p:spPr>
          <a:xfrm>
            <a:off x="666750" y="1314450"/>
            <a:ext cx="5143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Exercise Budget Planning</a:t>
            </a:r>
          </a:p>
          <a:p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Without Excel Fragility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EEDC09-DD1A-408E-BE39-DDEF73E4FE7F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4762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China Tracker turns unit inputs, rate tables, and reporting requirements into one live planning picture that leadership can trust.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6AFC0A-5CB8-4CF1-B0F3-780EDBBB4ABA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4648200" cy="1295400"/>
          </a:xfrm>
          <a:prstGeom prst="roundRect">
            <a:avLst>
              <a:gd name="adj" fmla="val 5882"/>
            </a:avLst>
          </a:prstGeom>
          <a:solidFill>
            <a:srgbClr val="11284B"/>
          </a:solidFill>
          <a:ln w="11430">
            <a:solidFill>
              <a:srgbClr val="2A4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AEF9ED4-0629-4856-B16D-6E70D108B13F}"/>
              </a:ext>
            </a:extLst>
          </p:cNvPr>
          <p:cNvSpPr>
            <a:spLocks noGrp="1"/>
          </p:cNvSpPr>
          <p:nvPr/>
        </p:nvSpPr>
        <p:spPr>
          <a:xfrm>
            <a:off x="876300" y="3924300"/>
            <a:ext cx="400050" cy="400050"/>
          </a:xfrm>
          <a:prstGeom prst="ellipse">
            <a:avLst/>
          </a:prstGeom>
          <a:solidFill>
            <a:srgbClr val="F3B9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FE95F8-3786-4D44-AE3A-02F712B60C08}"/>
              </a:ext>
            </a:extLst>
          </p:cNvPr>
          <p:cNvSpPr>
            <a:spLocks noGrp="1"/>
          </p:cNvSpPr>
          <p:nvPr/>
        </p:nvSpPr>
        <p:spPr>
          <a:xfrm>
            <a:off x="990600" y="40005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B1830"/>
                </a:solidFill>
              </a:defRPr>
            </a:pPr>
            <a:r>
              <a:rPr sz="1050" b="1">
                <a:solidFill>
                  <a:srgbClr val="0B1830"/>
                </a:solidFill>
              </a:rPr>
              <a:t>01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80F33D-A20B-4DBF-9EBD-AC0A7406609E}"/>
              </a:ext>
            </a:extLst>
          </p:cNvPr>
          <p:cNvSpPr>
            <a:spLocks noGrp="1"/>
          </p:cNvSpPr>
          <p:nvPr/>
        </p:nvSpPr>
        <p:spPr>
          <a:xfrm>
            <a:off x="1409700" y="3924300"/>
            <a:ext cx="3733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matters now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D6942A-6E58-47BE-8E29-1F78987A5B7C}"/>
              </a:ext>
            </a:extLst>
          </p:cNvPr>
          <p:cNvSpPr>
            <a:spLocks noGrp="1"/>
          </p:cNvSpPr>
          <p:nvPr/>
        </p:nvSpPr>
        <p:spPr>
          <a:xfrm>
            <a:off x="895350" y="4381500"/>
            <a:ext cx="4191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8E2F0"/>
                </a:solidFill>
              </a:defRPr>
            </a:pPr>
            <a:r>
              <a:rPr sz="1125" b="0">
                <a:solidFill>
                  <a:srgbClr val="D8E2F0"/>
                </a:solidFill>
              </a:rPr>
              <a:t>The application already replaces disconnected workbook logic with a single web-based planning surface that updates immediately.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E8922D1-8A96-41EB-B63B-9BF965EE795F}"/>
              </a:ext>
            </a:extLst>
          </p:cNvPr>
          <p:cNvSpPr>
            <a:spLocks noGrp="1"/>
          </p:cNvSpPr>
          <p:nvPr/>
        </p:nvSpPr>
        <p:spPr>
          <a:xfrm>
            <a:off x="666750" y="5295900"/>
            <a:ext cx="1428750" cy="285750"/>
          </a:xfrm>
          <a:prstGeom prst="roundRect">
            <a:avLst>
              <a:gd name="adj" fmla="val 26667"/>
            </a:avLst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D84285-FAF1-4526-A96B-3BE3D298D908}"/>
              </a:ext>
            </a:extLst>
          </p:cNvPr>
          <p:cNvSpPr>
            <a:spLocks noGrp="1"/>
          </p:cNvSpPr>
          <p:nvPr/>
        </p:nvSpPr>
        <p:spPr>
          <a:xfrm>
            <a:off x="800100" y="5362575"/>
            <a:ext cx="1162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REAL-TIME TOTALS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85906C9-6113-4EAB-828A-FE4C1B7BE6E7}"/>
              </a:ext>
            </a:extLst>
          </p:cNvPr>
          <p:cNvSpPr>
            <a:spLocks noGrp="1"/>
          </p:cNvSpPr>
          <p:nvPr/>
        </p:nvSpPr>
        <p:spPr>
          <a:xfrm>
            <a:off x="2209800" y="5295900"/>
            <a:ext cx="1466850" cy="285750"/>
          </a:xfrm>
          <a:prstGeom prst="roundRect">
            <a:avLst>
              <a:gd name="adj" fmla="val 26667"/>
            </a:avLst>
          </a:prstGeom>
          <a:solidFill>
            <a:srgbClr val="D9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FD9C0D-2DC7-4E48-B8DD-DF025A6CFEC7}"/>
              </a:ext>
            </a:extLst>
          </p:cNvPr>
          <p:cNvSpPr>
            <a:spLocks noGrp="1"/>
          </p:cNvSpPr>
          <p:nvPr/>
        </p:nvSpPr>
        <p:spPr>
          <a:xfrm>
            <a:off x="2343150" y="5362575"/>
            <a:ext cx="1200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AUDIT-FRIENDLY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D1E4211-CE86-4B77-B303-0DCF79224978}"/>
              </a:ext>
            </a:extLst>
          </p:cNvPr>
          <p:cNvSpPr>
            <a:spLocks noGrp="1"/>
          </p:cNvSpPr>
          <p:nvPr/>
        </p:nvSpPr>
        <p:spPr>
          <a:xfrm>
            <a:off x="3790950" y="5295900"/>
            <a:ext cx="1524000" cy="285750"/>
          </a:xfrm>
          <a:prstGeom prst="roundRect">
            <a:avLst>
              <a:gd name="adj" fmla="val 26667"/>
            </a:avLst>
          </a:prstGeom>
          <a:solidFill>
            <a:srgbClr val="FFF2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9A32BE-B9D1-4B7C-9631-8106A8CC8293}"/>
              </a:ext>
            </a:extLst>
          </p:cNvPr>
          <p:cNvSpPr>
            <a:spLocks noGrp="1"/>
          </p:cNvSpPr>
          <p:nvPr/>
        </p:nvSpPr>
        <p:spPr>
          <a:xfrm>
            <a:off x="3924300" y="5362575"/>
            <a:ext cx="1257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EXPORT-READY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3D968B6-EC13-4060-99ED-29555B0EA251}"/>
              </a:ext>
            </a:extLst>
          </p:cNvPr>
          <p:cNvSpPr>
            <a:spLocks noGrp="1"/>
          </p:cNvSpPr>
          <p:nvPr/>
        </p:nvSpPr>
        <p:spPr>
          <a:xfrm>
            <a:off x="6286500" y="933450"/>
            <a:ext cx="5334000" cy="2400300"/>
          </a:xfrm>
          <a:prstGeom prst="roundRect">
            <a:avLst>
              <a:gd name="adj" fmla="val 3175"/>
            </a:avLst>
          </a:prstGeom>
          <a:solidFill>
            <a:srgbClr val="0B1830">
              <a:alpha val="3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8D71CD3-3226-4CA0-AB0D-0F33755DA814}"/>
              </a:ext>
            </a:extLst>
          </p:cNvPr>
          <p:cNvSpPr>
            <a:spLocks noGrp="1"/>
          </p:cNvSpPr>
          <p:nvPr/>
        </p:nvSpPr>
        <p:spPr>
          <a:xfrm>
            <a:off x="6191250" y="800100"/>
            <a:ext cx="5334000" cy="240030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0478">
            <a:solidFill>
              <a:srgbClr val="CAD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D593169-5E6E-4645-8D39-65A976EAB5C3}"/>
              </a:ext>
            </a:extLst>
          </p:cNvPr>
          <p:cNvSpPr>
            <a:spLocks noGrp="1"/>
          </p:cNvSpPr>
          <p:nvPr/>
        </p:nvSpPr>
        <p:spPr>
          <a:xfrm>
            <a:off x="6343650" y="933450"/>
            <a:ext cx="5029200" cy="247650"/>
          </a:xfrm>
          <a:prstGeom prst="roundRect">
            <a:avLst>
              <a:gd name="adj" fmla="val 30769"/>
            </a:avLst>
          </a:prstGeom>
          <a:solidFill>
            <a:srgbClr val="EEF4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A35F911-A2A4-485C-B204-9FD772B1BE0F}"/>
              </a:ext>
            </a:extLst>
          </p:cNvPr>
          <p:cNvSpPr>
            <a:spLocks noGrp="1"/>
          </p:cNvSpPr>
          <p:nvPr/>
        </p:nvSpPr>
        <p:spPr>
          <a:xfrm>
            <a:off x="6457950" y="1019175"/>
            <a:ext cx="76200" cy="76200"/>
          </a:xfrm>
          <a:prstGeom prst="ellipse">
            <a:avLst/>
          </a:prstGeom>
          <a:solidFill>
            <a:srgbClr val="FF7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4F00E02-257D-4147-906D-2A39D53CB212}"/>
              </a:ext>
            </a:extLst>
          </p:cNvPr>
          <p:cNvSpPr>
            <a:spLocks noGrp="1"/>
          </p:cNvSpPr>
          <p:nvPr/>
        </p:nvSpPr>
        <p:spPr>
          <a:xfrm>
            <a:off x="6591300" y="1019175"/>
            <a:ext cx="76200" cy="76200"/>
          </a:xfrm>
          <a:prstGeom prst="ellipse">
            <a:avLst/>
          </a:prstGeom>
          <a:solidFill>
            <a:srgbClr val="F3B9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E29613-3EDF-4EBE-ACD0-4FFCC56798C1}"/>
              </a:ext>
            </a:extLst>
          </p:cNvPr>
          <p:cNvSpPr>
            <a:spLocks noGrp="1"/>
          </p:cNvSpPr>
          <p:nvPr/>
        </p:nvSpPr>
        <p:spPr>
          <a:xfrm>
            <a:off x="6724650" y="1019175"/>
            <a:ext cx="76200" cy="76200"/>
          </a:xfrm>
          <a:prstGeom prst="ellipse">
            <a:avLst/>
          </a:prstGeom>
          <a:solidFill>
            <a:srgbClr val="2F9E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17317" y="1295400"/>
            <a:ext cx="3081867" cy="1733550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B668F7E-0185-4A74-BFB0-C4D8B422AF12}"/>
              </a:ext>
            </a:extLst>
          </p:cNvPr>
          <p:cNvSpPr>
            <a:spLocks noGrp="1"/>
          </p:cNvSpPr>
          <p:nvPr/>
        </p:nvSpPr>
        <p:spPr>
          <a:xfrm>
            <a:off x="6362700" y="2933700"/>
            <a:ext cx="1143000" cy="285750"/>
          </a:xfrm>
          <a:prstGeom prst="roundRect">
            <a:avLst>
              <a:gd name="adj" fmla="val 26667"/>
            </a:avLst>
          </a:prstGeom>
          <a:solidFill>
            <a:srgbClr val="0B18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34B4F54-EEA4-446E-B4CE-0B482588B9E5}"/>
              </a:ext>
            </a:extLst>
          </p:cNvPr>
          <p:cNvSpPr>
            <a:spLocks noGrp="1"/>
          </p:cNvSpPr>
          <p:nvPr/>
        </p:nvSpPr>
        <p:spPr>
          <a:xfrm>
            <a:off x="6496050" y="3000375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D4E6704-D4D4-4C6F-837A-0E9AFE94002D}"/>
              </a:ext>
            </a:extLst>
          </p:cNvPr>
          <p:cNvSpPr>
            <a:spLocks noGrp="1"/>
          </p:cNvSpPr>
          <p:nvPr/>
        </p:nvSpPr>
        <p:spPr>
          <a:xfrm>
            <a:off x="6000750" y="3048000"/>
            <a:ext cx="3429000" cy="2419350"/>
          </a:xfrm>
          <a:prstGeom prst="roundRect">
            <a:avLst>
              <a:gd name="adj" fmla="val 3150"/>
            </a:avLst>
          </a:prstGeom>
          <a:solidFill>
            <a:srgbClr val="0B1830">
              <a:alpha val="3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8A0A9DE-C9EA-4FC1-8305-8F97536CFC9C}"/>
              </a:ext>
            </a:extLst>
          </p:cNvPr>
          <p:cNvSpPr>
            <a:spLocks noGrp="1"/>
          </p:cNvSpPr>
          <p:nvPr/>
        </p:nvSpPr>
        <p:spPr>
          <a:xfrm>
            <a:off x="5905500" y="2914650"/>
            <a:ext cx="3429000" cy="241935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0478">
            <a:solidFill>
              <a:srgbClr val="CAD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E622BAC-041E-4E37-AC94-9D9AD8A7FC45}"/>
              </a:ext>
            </a:extLst>
          </p:cNvPr>
          <p:cNvSpPr>
            <a:spLocks noGrp="1"/>
          </p:cNvSpPr>
          <p:nvPr/>
        </p:nvSpPr>
        <p:spPr>
          <a:xfrm>
            <a:off x="6057900" y="3048000"/>
            <a:ext cx="3124200" cy="247650"/>
          </a:xfrm>
          <a:prstGeom prst="roundRect">
            <a:avLst>
              <a:gd name="adj" fmla="val 30769"/>
            </a:avLst>
          </a:prstGeom>
          <a:solidFill>
            <a:srgbClr val="EEF4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B6E9AB5-A394-4A68-B7E8-46A72576F441}"/>
              </a:ext>
            </a:extLst>
          </p:cNvPr>
          <p:cNvSpPr>
            <a:spLocks noGrp="1"/>
          </p:cNvSpPr>
          <p:nvPr/>
        </p:nvSpPr>
        <p:spPr>
          <a:xfrm>
            <a:off x="6172200" y="3133725"/>
            <a:ext cx="76200" cy="76200"/>
          </a:xfrm>
          <a:prstGeom prst="ellipse">
            <a:avLst/>
          </a:prstGeom>
          <a:solidFill>
            <a:srgbClr val="FF7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C6E5F7-DDBD-430E-B57D-BA307EB95C92}"/>
              </a:ext>
            </a:extLst>
          </p:cNvPr>
          <p:cNvSpPr>
            <a:spLocks noGrp="1"/>
          </p:cNvSpPr>
          <p:nvPr/>
        </p:nvSpPr>
        <p:spPr>
          <a:xfrm>
            <a:off x="6305550" y="3133725"/>
            <a:ext cx="76200" cy="76200"/>
          </a:xfrm>
          <a:prstGeom prst="ellipse">
            <a:avLst/>
          </a:prstGeom>
          <a:solidFill>
            <a:srgbClr val="F3B9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C58F488-792F-46D5-9215-090B321C8801}"/>
              </a:ext>
            </a:extLst>
          </p:cNvPr>
          <p:cNvSpPr>
            <a:spLocks noGrp="1"/>
          </p:cNvSpPr>
          <p:nvPr/>
        </p:nvSpPr>
        <p:spPr>
          <a:xfrm>
            <a:off x="6438900" y="3133725"/>
            <a:ext cx="76200" cy="76200"/>
          </a:xfrm>
          <a:prstGeom prst="ellipse">
            <a:avLst/>
          </a:prstGeom>
          <a:solidFill>
            <a:srgbClr val="2F9E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76950" y="3418284"/>
            <a:ext cx="3086100" cy="1735931"/>
          </a:xfrm>
          <a:prstGeom prst="rect">
            <a:avLst/>
          </a:prstGeom>
        </p:spPr>
      </p:pic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87844BF-BE44-46F1-B222-AA52510B7500}"/>
              </a:ext>
            </a:extLst>
          </p:cNvPr>
          <p:cNvSpPr>
            <a:spLocks noGrp="1"/>
          </p:cNvSpPr>
          <p:nvPr/>
        </p:nvSpPr>
        <p:spPr>
          <a:xfrm>
            <a:off x="6076950" y="5067300"/>
            <a:ext cx="1143000" cy="285750"/>
          </a:xfrm>
          <a:prstGeom prst="roundRect">
            <a:avLst>
              <a:gd name="adj" fmla="val 26667"/>
            </a:avLst>
          </a:prstGeom>
          <a:solidFill>
            <a:srgbClr val="0B18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A997A5C-9EFB-4272-A7A9-9780FFF020F7}"/>
              </a:ext>
            </a:extLst>
          </p:cNvPr>
          <p:cNvSpPr>
            <a:spLocks noGrp="1"/>
          </p:cNvSpPr>
          <p:nvPr/>
        </p:nvSpPr>
        <p:spPr>
          <a:xfrm>
            <a:off x="6210300" y="5133975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Unit View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F777268-1149-43EF-BBB5-7900531A0A46}"/>
              </a:ext>
            </a:extLst>
          </p:cNvPr>
          <p:cNvSpPr>
            <a:spLocks noGrp="1"/>
          </p:cNvSpPr>
          <p:nvPr/>
        </p:nvSpPr>
        <p:spPr>
          <a:xfrm>
            <a:off x="9086850" y="3409950"/>
            <a:ext cx="2533650" cy="1733550"/>
          </a:xfrm>
          <a:prstGeom prst="roundRect">
            <a:avLst>
              <a:gd name="adj" fmla="val 4396"/>
            </a:avLst>
          </a:prstGeom>
          <a:solidFill>
            <a:srgbClr val="0B1830">
              <a:alpha val="3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80743B3-C34C-422E-ACEA-5EC036947DFB}"/>
              </a:ext>
            </a:extLst>
          </p:cNvPr>
          <p:cNvSpPr>
            <a:spLocks noGrp="1"/>
          </p:cNvSpPr>
          <p:nvPr/>
        </p:nvSpPr>
        <p:spPr>
          <a:xfrm>
            <a:off x="8991600" y="3276600"/>
            <a:ext cx="2533650" cy="17335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0478">
            <a:solidFill>
              <a:srgbClr val="CAD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42668C5-AA12-4F22-BCF7-C28C0864569B}"/>
              </a:ext>
            </a:extLst>
          </p:cNvPr>
          <p:cNvSpPr>
            <a:spLocks noGrp="1"/>
          </p:cNvSpPr>
          <p:nvPr/>
        </p:nvSpPr>
        <p:spPr>
          <a:xfrm>
            <a:off x="9144000" y="3409950"/>
            <a:ext cx="2228850" cy="247650"/>
          </a:xfrm>
          <a:prstGeom prst="roundRect">
            <a:avLst>
              <a:gd name="adj" fmla="val 30769"/>
            </a:avLst>
          </a:prstGeom>
          <a:solidFill>
            <a:srgbClr val="EEF4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59FE5E1-1E1A-4E6D-8DC7-271A781B6695}"/>
              </a:ext>
            </a:extLst>
          </p:cNvPr>
          <p:cNvSpPr>
            <a:spLocks noGrp="1"/>
          </p:cNvSpPr>
          <p:nvPr/>
        </p:nvSpPr>
        <p:spPr>
          <a:xfrm>
            <a:off x="9258300" y="3495675"/>
            <a:ext cx="76200" cy="76200"/>
          </a:xfrm>
          <a:prstGeom prst="ellipse">
            <a:avLst/>
          </a:prstGeom>
          <a:solidFill>
            <a:srgbClr val="FF7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694558F-FDC0-4D32-88E3-CAA80BDBC105}"/>
              </a:ext>
            </a:extLst>
          </p:cNvPr>
          <p:cNvSpPr>
            <a:spLocks noGrp="1"/>
          </p:cNvSpPr>
          <p:nvPr/>
        </p:nvSpPr>
        <p:spPr>
          <a:xfrm>
            <a:off x="9391650" y="3495675"/>
            <a:ext cx="76200" cy="76200"/>
          </a:xfrm>
          <a:prstGeom prst="ellipse">
            <a:avLst/>
          </a:prstGeom>
          <a:solidFill>
            <a:srgbClr val="F3B9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48CFD41-1777-4F53-9A5D-2E44C2DB9139}"/>
              </a:ext>
            </a:extLst>
          </p:cNvPr>
          <p:cNvSpPr>
            <a:spLocks noGrp="1"/>
          </p:cNvSpPr>
          <p:nvPr/>
        </p:nvSpPr>
        <p:spPr>
          <a:xfrm>
            <a:off x="9525000" y="3495675"/>
            <a:ext cx="76200" cy="76200"/>
          </a:xfrm>
          <a:prstGeom prst="ellipse">
            <a:avLst/>
          </a:prstGeom>
          <a:solidFill>
            <a:srgbClr val="2F9E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310158" y="3771900"/>
            <a:ext cx="1896533" cy="1066800"/>
          </a:xfrm>
          <a:prstGeom prst="rect">
            <a:avLst/>
          </a:prstGeom>
        </p:spPr>
      </p:pic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61A3301-8DD4-4A8B-8134-B8D98D0E6FFF}"/>
              </a:ext>
            </a:extLst>
          </p:cNvPr>
          <p:cNvSpPr>
            <a:spLocks noGrp="1"/>
          </p:cNvSpPr>
          <p:nvPr/>
        </p:nvSpPr>
        <p:spPr>
          <a:xfrm>
            <a:off x="9163050" y="4743450"/>
            <a:ext cx="1143000" cy="285750"/>
          </a:xfrm>
          <a:prstGeom prst="roundRect">
            <a:avLst>
              <a:gd name="adj" fmla="val 26667"/>
            </a:avLst>
          </a:prstGeom>
          <a:solidFill>
            <a:srgbClr val="0B18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20D4A45-F67A-49EA-8FD3-F57C57C07229}"/>
              </a:ext>
            </a:extLst>
          </p:cNvPr>
          <p:cNvSpPr>
            <a:spLocks noGrp="1"/>
          </p:cNvSpPr>
          <p:nvPr/>
        </p:nvSpPr>
        <p:spPr>
          <a:xfrm>
            <a:off x="9296400" y="4810125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Reports</a:t>
            </a:r>
          </a:p>
        </p:txBody>
      </p:sp>
    </p:spTree>
    <p:extLst>
      <p:ext uri="{BB962C8B-B14F-4D97-AF65-F5344CB8AC3E}">
        <p14:creationId xmlns:p14="http://schemas.microsoft.com/office/powerpoint/2010/main" val="65317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F39723C-A62F-44A3-9B4F-3D40F6B4B0D6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EA75BF6-18FA-4A43-AFF4-00E52ABB69AD}"/>
              </a:ext>
            </a:extLst>
          </p:cNvPr>
          <p:cNvSpPr>
            <a:spLocks noGrp="1"/>
          </p:cNvSpPr>
          <p:nvPr/>
        </p:nvSpPr>
        <p:spPr>
          <a:xfrm>
            <a:off x="9810750" y="-857250"/>
            <a:ext cx="2476500" cy="2476500"/>
          </a:xfrm>
          <a:prstGeom prst="ellipse">
            <a:avLst/>
          </a:prstGeom>
          <a:solidFill>
            <a:srgbClr val="D9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393F82B-A776-4D5B-85C5-CE889DDFC86B}"/>
              </a:ext>
            </a:extLst>
          </p:cNvPr>
          <p:cNvSpPr>
            <a:spLocks noGrp="1"/>
          </p:cNvSpPr>
          <p:nvPr/>
        </p:nvSpPr>
        <p:spPr>
          <a:xfrm>
            <a:off x="9334500" y="5334000"/>
            <a:ext cx="2667000" cy="2667000"/>
          </a:xfrm>
          <a:prstGeom prst="ellipse">
            <a:avLst/>
          </a:prstGeom>
          <a:solidFill>
            <a:srgbClr val="FFF2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B926AE-7715-4778-B59A-A84944D362D3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HOW THE APP WORKS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A5BBD6-13EF-4773-8147-D8D4E2C05CFF}"/>
              </a:ext>
            </a:extLst>
          </p:cNvPr>
          <p:cNvSpPr>
            <a:spLocks noGrp="1"/>
          </p:cNvSpPr>
          <p:nvPr/>
        </p:nvSpPr>
        <p:spPr>
          <a:xfrm>
            <a:off x="10287000" y="3810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02 / 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4759EB-0A41-4547-A378-A04A3ECB25A0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65722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3243B"/>
                </a:solidFill>
              </a:defRPr>
            </a:pPr>
            <a:r>
              <a:rPr sz="2550" b="1">
                <a:solidFill>
                  <a:srgbClr val="13243B"/>
                </a:solidFill>
              </a:rPr>
              <a:t>How the App Works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2C53DB-DBD5-46A5-A3BC-AB36FB601A93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477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16177"/>
                </a:solidFill>
              </a:defRPr>
            </a:pPr>
            <a:r>
              <a:rPr sz="1350" b="0">
                <a:solidFill>
                  <a:srgbClr val="516177"/>
                </a:solidFill>
              </a:rPr>
              <a:t>The workflow mirrors how planners already think, but the calculations and rollups happen automatically.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A48BDAC-50A9-47D9-B630-D2C8C28EAF92}"/>
              </a:ext>
            </a:extLst>
          </p:cNvPr>
          <p:cNvSpPr>
            <a:spLocks noGrp="1"/>
          </p:cNvSpPr>
          <p:nvPr/>
        </p:nvSpPr>
        <p:spPr>
          <a:xfrm>
            <a:off x="666750" y="2819400"/>
            <a:ext cx="335280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BE7BF0D-2C6B-47C0-92A7-50C5706134B0}"/>
              </a:ext>
            </a:extLst>
          </p:cNvPr>
          <p:cNvSpPr>
            <a:spLocks noGrp="1"/>
          </p:cNvSpPr>
          <p:nvPr/>
        </p:nvSpPr>
        <p:spPr>
          <a:xfrm>
            <a:off x="895350" y="3048000"/>
            <a:ext cx="381000" cy="381000"/>
          </a:xfrm>
          <a:prstGeom prst="ellipse">
            <a:avLst/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776139-4F26-4AF7-8350-1666FE8FF73E}"/>
              </a:ext>
            </a:extLst>
          </p:cNvPr>
          <p:cNvSpPr>
            <a:spLocks noGrp="1"/>
          </p:cNvSpPr>
          <p:nvPr/>
        </p:nvSpPr>
        <p:spPr>
          <a:xfrm>
            <a:off x="1028700" y="3152775"/>
            <a:ext cx="114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B1830"/>
                </a:solidFill>
              </a:defRPr>
            </a:pPr>
            <a:r>
              <a:rPr sz="900" b="1">
                <a:solidFill>
                  <a:srgbClr val="0B1830"/>
                </a:solidFill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C17250-68F7-459C-8BEA-6B8A3BBFC716}"/>
              </a:ext>
            </a:extLst>
          </p:cNvPr>
          <p:cNvSpPr>
            <a:spLocks noGrp="1"/>
          </p:cNvSpPr>
          <p:nvPr/>
        </p:nvSpPr>
        <p:spPr>
          <a:xfrm>
            <a:off x="1447800" y="30480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Create or select an exercise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0E84CE-C76C-4A58-8C91-00FFE995E4E6}"/>
              </a:ext>
            </a:extLst>
          </p:cNvPr>
          <p:cNvSpPr>
            <a:spLocks noGrp="1"/>
          </p:cNvSpPr>
          <p:nvPr/>
        </p:nvSpPr>
        <p:spPr>
          <a:xfrm>
            <a:off x="895350" y="3562350"/>
            <a:ext cx="2895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Set the exercise name, date range, and default duty day assumptions once at the top.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C9945C4-B5EB-4E97-891B-594F3D43979A}"/>
              </a:ext>
            </a:extLst>
          </p:cNvPr>
          <p:cNvSpPr>
            <a:spLocks noGrp="1"/>
          </p:cNvSpPr>
          <p:nvPr/>
        </p:nvSpPr>
        <p:spPr>
          <a:xfrm>
            <a:off x="4267200" y="2819400"/>
            <a:ext cx="335280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B7138D1-F3B5-42A5-AE9D-680572D720E9}"/>
              </a:ext>
            </a:extLst>
          </p:cNvPr>
          <p:cNvSpPr>
            <a:spLocks noGrp="1"/>
          </p:cNvSpPr>
          <p:nvPr/>
        </p:nvSpPr>
        <p:spPr>
          <a:xfrm>
            <a:off x="4495800" y="3048000"/>
            <a:ext cx="381000" cy="381000"/>
          </a:xfrm>
          <a:prstGeom prst="ellipse">
            <a:avLst/>
          </a:prstGeom>
          <a:solidFill>
            <a:srgbClr val="D9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73D3D0-5426-4218-A87A-5C6C5E4F6254}"/>
              </a:ext>
            </a:extLst>
          </p:cNvPr>
          <p:cNvSpPr>
            <a:spLocks noGrp="1"/>
          </p:cNvSpPr>
          <p:nvPr/>
        </p:nvSpPr>
        <p:spPr>
          <a:xfrm>
            <a:off x="4629150" y="3152775"/>
            <a:ext cx="114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B1830"/>
                </a:solidFill>
              </a:defRPr>
            </a:pPr>
            <a:r>
              <a:rPr sz="900" b="1">
                <a:solidFill>
                  <a:srgbClr val="0B1830"/>
                </a:solidFill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B062B8-7491-429F-8508-FAACA28255E5}"/>
              </a:ext>
            </a:extLst>
          </p:cNvPr>
          <p:cNvSpPr>
            <a:spLocks noGrp="1"/>
          </p:cNvSpPr>
          <p:nvPr/>
        </p:nvSpPr>
        <p:spPr>
          <a:xfrm>
            <a:off x="5048250" y="30480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Configure rates and targets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C3511D-7CBA-431F-8ED0-F1CF8B2324BE}"/>
              </a:ext>
            </a:extLst>
          </p:cNvPr>
          <p:cNvSpPr>
            <a:spLocks noGrp="1"/>
          </p:cNvSpPr>
          <p:nvPr/>
        </p:nvSpPr>
        <p:spPr>
          <a:xfrm>
            <a:off x="4495800" y="3562350"/>
            <a:ext cx="2895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Adjust CPD, per diem, travel, meal, and budget target assumptions in one controlled location.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04AFDC6-07FE-4B7E-8DF8-B07C21D36496}"/>
              </a:ext>
            </a:extLst>
          </p:cNvPr>
          <p:cNvSpPr>
            <a:spLocks noGrp="1"/>
          </p:cNvSpPr>
          <p:nvPr/>
        </p:nvSpPr>
        <p:spPr>
          <a:xfrm>
            <a:off x="7867650" y="2819400"/>
            <a:ext cx="335280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6FD74C4-BC8E-45DC-84D9-436821274890}"/>
              </a:ext>
            </a:extLst>
          </p:cNvPr>
          <p:cNvSpPr>
            <a:spLocks noGrp="1"/>
          </p:cNvSpPr>
          <p:nvPr/>
        </p:nvSpPr>
        <p:spPr>
          <a:xfrm>
            <a:off x="8096250" y="3048000"/>
            <a:ext cx="381000" cy="381000"/>
          </a:xfrm>
          <a:prstGeom prst="ellipse">
            <a:avLst/>
          </a:prstGeom>
          <a:solidFill>
            <a:srgbClr val="FFF2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76E1E3-E32B-448D-A2D3-28B7D6EAFF46}"/>
              </a:ext>
            </a:extLst>
          </p:cNvPr>
          <p:cNvSpPr>
            <a:spLocks noGrp="1"/>
          </p:cNvSpPr>
          <p:nvPr/>
        </p:nvSpPr>
        <p:spPr>
          <a:xfrm>
            <a:off x="8229600" y="3152775"/>
            <a:ext cx="114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B1830"/>
                </a:solidFill>
              </a:defRPr>
            </a:pPr>
            <a:r>
              <a:rPr sz="900" b="1">
                <a:solidFill>
                  <a:srgbClr val="0B1830"/>
                </a:solidFill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1C3978-C21F-450E-BEF7-B662151A1F1E}"/>
              </a:ext>
            </a:extLst>
          </p:cNvPr>
          <p:cNvSpPr>
            <a:spLocks noGrp="1"/>
          </p:cNvSpPr>
          <p:nvPr/>
        </p:nvSpPr>
        <p:spPr>
          <a:xfrm>
            <a:off x="8648700" y="30480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Build each unit page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48CCF-48E4-4837-9514-71C2DFC8ABCD}"/>
              </a:ext>
            </a:extLst>
          </p:cNvPr>
          <p:cNvSpPr>
            <a:spLocks noGrp="1"/>
          </p:cNvSpPr>
          <p:nvPr/>
        </p:nvSpPr>
        <p:spPr>
          <a:xfrm>
            <a:off x="8096250" y="3562350"/>
            <a:ext cx="2895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Enter PAX, locations, duty days, and detailed planning or execution inputs for each unit.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040052D-4DE8-4339-BD57-CEBD3BDCDC43}"/>
              </a:ext>
            </a:extLst>
          </p:cNvPr>
          <p:cNvSpPr>
            <a:spLocks noGrp="1"/>
          </p:cNvSpPr>
          <p:nvPr/>
        </p:nvSpPr>
        <p:spPr>
          <a:xfrm>
            <a:off x="666750" y="4457700"/>
            <a:ext cx="518160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FFD780E-C040-4F19-AFE8-38266195DB9A}"/>
              </a:ext>
            </a:extLst>
          </p:cNvPr>
          <p:cNvSpPr>
            <a:spLocks noGrp="1"/>
          </p:cNvSpPr>
          <p:nvPr/>
        </p:nvSpPr>
        <p:spPr>
          <a:xfrm>
            <a:off x="895350" y="4686300"/>
            <a:ext cx="381000" cy="381000"/>
          </a:xfrm>
          <a:prstGeom prst="ellipse">
            <a:avLst/>
          </a:prstGeom>
          <a:solidFill>
            <a:srgbClr val="E6EE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24E315-8452-414C-8503-D8A061E22C18}"/>
              </a:ext>
            </a:extLst>
          </p:cNvPr>
          <p:cNvSpPr>
            <a:spLocks noGrp="1"/>
          </p:cNvSpPr>
          <p:nvPr/>
        </p:nvSpPr>
        <p:spPr>
          <a:xfrm>
            <a:off x="1028700" y="4791075"/>
            <a:ext cx="114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B1830"/>
                </a:solidFill>
              </a:defRPr>
            </a:pPr>
            <a:r>
              <a:rPr sz="900" b="1">
                <a:solidFill>
                  <a:srgbClr val="0B1830"/>
                </a:solidFill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AFA76A7-EF4F-4DA6-9357-B364FC1D79F6}"/>
              </a:ext>
            </a:extLst>
          </p:cNvPr>
          <p:cNvSpPr>
            <a:spLocks noGrp="1"/>
          </p:cNvSpPr>
          <p:nvPr/>
        </p:nvSpPr>
        <p:spPr>
          <a:xfrm>
            <a:off x="1447800" y="4686300"/>
            <a:ext cx="421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Review live rollups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EED530-2E26-424E-9B54-D05DB93966A4}"/>
              </a:ext>
            </a:extLst>
          </p:cNvPr>
          <p:cNvSpPr>
            <a:spLocks noGrp="1"/>
          </p:cNvSpPr>
          <p:nvPr/>
        </p:nvSpPr>
        <p:spPr>
          <a:xfrm>
            <a:off x="895350" y="5200650"/>
            <a:ext cx="4724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Dashboard, balance, and report views update automatically as soon as a planner changes data.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0F4FC61-D8F3-4695-9257-36D612F11466}"/>
              </a:ext>
            </a:extLst>
          </p:cNvPr>
          <p:cNvSpPr>
            <a:spLocks noGrp="1"/>
          </p:cNvSpPr>
          <p:nvPr/>
        </p:nvSpPr>
        <p:spPr>
          <a:xfrm>
            <a:off x="6096000" y="4457700"/>
            <a:ext cx="518160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96C9929-2354-4059-8811-774CA109A7CA}"/>
              </a:ext>
            </a:extLst>
          </p:cNvPr>
          <p:cNvSpPr>
            <a:spLocks noGrp="1"/>
          </p:cNvSpPr>
          <p:nvPr/>
        </p:nvSpPr>
        <p:spPr>
          <a:xfrm>
            <a:off x="6324600" y="4686300"/>
            <a:ext cx="381000" cy="381000"/>
          </a:xfrm>
          <a:prstGeom prst="ellipse">
            <a:avLst/>
          </a:prstGeom>
          <a:solidFill>
            <a:srgbClr val="E4FB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40A2B50-4737-49D0-95AF-12D30B94B92E}"/>
              </a:ext>
            </a:extLst>
          </p:cNvPr>
          <p:cNvSpPr>
            <a:spLocks noGrp="1"/>
          </p:cNvSpPr>
          <p:nvPr/>
        </p:nvSpPr>
        <p:spPr>
          <a:xfrm>
            <a:off x="6457950" y="4791075"/>
            <a:ext cx="114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B1830"/>
                </a:solidFill>
              </a:defRPr>
            </a:pPr>
            <a:r>
              <a:rPr sz="900" b="1">
                <a:solidFill>
                  <a:srgbClr val="0B1830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001E65-54EA-4EB2-9978-6B00CFC7F994}"/>
              </a:ext>
            </a:extLst>
          </p:cNvPr>
          <p:cNvSpPr>
            <a:spLocks noGrp="1"/>
          </p:cNvSpPr>
          <p:nvPr/>
        </p:nvSpPr>
        <p:spPr>
          <a:xfrm>
            <a:off x="6877050" y="4686300"/>
            <a:ext cx="421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Export and refine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DF1F2F-8B6D-44B8-A82A-AD61E9400C01}"/>
              </a:ext>
            </a:extLst>
          </p:cNvPr>
          <p:cNvSpPr>
            <a:spLocks noGrp="1"/>
          </p:cNvSpPr>
          <p:nvPr/>
        </p:nvSpPr>
        <p:spPr>
          <a:xfrm>
            <a:off x="6324600" y="5200650"/>
            <a:ext cx="4724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Use reports, print/PDF, Excel export, refinements, clear tools, and undo to support the briefing cycle.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1D952969-47DA-4DBA-BB72-05C5A166253D}"/>
              </a:ext>
            </a:extLst>
          </p:cNvPr>
          <p:cNvSpPr>
            <a:spLocks noGrp="1"/>
          </p:cNvSpPr>
          <p:nvPr/>
        </p:nvSpPr>
        <p:spPr>
          <a:xfrm>
            <a:off x="4000500" y="6019800"/>
            <a:ext cx="4095750" cy="247650"/>
          </a:xfrm>
          <a:prstGeom prst="rightArrow">
            <a:avLst/>
          </a:prstGeom>
          <a:solidFill>
            <a:srgbClr val="2B7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847F8A1-EA34-40F5-961D-6FC5361D3542}"/>
              </a:ext>
            </a:extLst>
          </p:cNvPr>
          <p:cNvSpPr>
            <a:spLocks noGrp="1"/>
          </p:cNvSpPr>
          <p:nvPr/>
        </p:nvSpPr>
        <p:spPr>
          <a:xfrm>
            <a:off x="4210050" y="6057900"/>
            <a:ext cx="3714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Structured input -&gt; calculation engine -&gt; leadership-ready output</a:t>
            </a:r>
          </a:p>
        </p:txBody>
      </p:sp>
    </p:spTree>
    <p:extLst>
      <p:ext uri="{BB962C8B-B14F-4D97-AF65-F5344CB8AC3E}">
        <p14:creationId xmlns:p14="http://schemas.microsoft.com/office/powerpoint/2010/main" val="858989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C8D62E8-3E67-4C0E-93B0-11020293A717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48C3BF5-E0D0-4FA9-9F9B-0D32FADB46A8}"/>
              </a:ext>
            </a:extLst>
          </p:cNvPr>
          <p:cNvSpPr>
            <a:spLocks noGrp="1"/>
          </p:cNvSpPr>
          <p:nvPr/>
        </p:nvSpPr>
        <p:spPr>
          <a:xfrm>
            <a:off x="9810750" y="-857250"/>
            <a:ext cx="2476500" cy="2476500"/>
          </a:xfrm>
          <a:prstGeom prst="ellipse">
            <a:avLst/>
          </a:prstGeom>
          <a:solidFill>
            <a:srgbClr val="D9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49B6D91-8DED-4A08-8CCF-88F23F64A128}"/>
              </a:ext>
            </a:extLst>
          </p:cNvPr>
          <p:cNvSpPr>
            <a:spLocks noGrp="1"/>
          </p:cNvSpPr>
          <p:nvPr/>
        </p:nvSpPr>
        <p:spPr>
          <a:xfrm>
            <a:off x="9334500" y="5334000"/>
            <a:ext cx="2667000" cy="2667000"/>
          </a:xfrm>
          <a:prstGeom prst="ellipse">
            <a:avLst/>
          </a:prstGeom>
          <a:solidFill>
            <a:srgbClr val="FFF2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79BB13-964D-4809-97E5-1994F9D52E6C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MAIN FEATURES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D7E251-30EB-442D-9E13-88736D554386}"/>
              </a:ext>
            </a:extLst>
          </p:cNvPr>
          <p:cNvSpPr>
            <a:spLocks noGrp="1"/>
          </p:cNvSpPr>
          <p:nvPr/>
        </p:nvSpPr>
        <p:spPr>
          <a:xfrm>
            <a:off x="10287000" y="3810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04 / 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29B1FB-FB0E-4E1E-BD9C-525DF501002E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65722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3243B"/>
                </a:solidFill>
              </a:defRPr>
            </a:pPr>
            <a:r>
              <a:rPr sz="2550" b="1">
                <a:solidFill>
                  <a:srgbClr val="13243B"/>
                </a:solidFill>
              </a:rPr>
              <a:t>Main Features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F6F8F8-A3D3-49C8-94AB-2EBCE5E1A459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477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16177"/>
                </a:solidFill>
              </a:defRPr>
            </a:pPr>
            <a:r>
              <a:rPr sz="1350" b="0">
                <a:solidFill>
                  <a:srgbClr val="516177"/>
                </a:solidFill>
              </a:rPr>
              <a:t>The application combines executive visibility, detailed planning controls, and briefing output in one connected workflow.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A4B4573-9ED9-4C39-9AB1-594489C43609}"/>
              </a:ext>
            </a:extLst>
          </p:cNvPr>
          <p:cNvSpPr>
            <a:spLocks noGrp="1"/>
          </p:cNvSpPr>
          <p:nvPr/>
        </p:nvSpPr>
        <p:spPr>
          <a:xfrm>
            <a:off x="666750" y="2800350"/>
            <a:ext cx="335280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044FA36-7F7B-48E5-B493-C3615906FDFD}"/>
              </a:ext>
            </a:extLst>
          </p:cNvPr>
          <p:cNvSpPr>
            <a:spLocks noGrp="1"/>
          </p:cNvSpPr>
          <p:nvPr/>
        </p:nvSpPr>
        <p:spPr>
          <a:xfrm>
            <a:off x="838200" y="2971800"/>
            <a:ext cx="533400" cy="285750"/>
          </a:xfrm>
          <a:prstGeom prst="roundRect">
            <a:avLst>
              <a:gd name="adj" fmla="val 26667"/>
            </a:avLst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CE8ABB-926E-4105-8F68-F0617EDD8A95}"/>
              </a:ext>
            </a:extLst>
          </p:cNvPr>
          <p:cNvSpPr>
            <a:spLocks noGrp="1"/>
          </p:cNvSpPr>
          <p:nvPr/>
        </p:nvSpPr>
        <p:spPr>
          <a:xfrm>
            <a:off x="838200" y="3048000"/>
            <a:ext cx="5334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LIVE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5F9C1F-E5DE-4F2E-B8F5-C34FD74DB3A1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Real-time rollups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9E2BAA-F46E-4108-BF04-82A15785D703}"/>
              </a:ext>
            </a:extLst>
          </p:cNvPr>
          <p:cNvSpPr>
            <a:spLocks noGrp="1"/>
          </p:cNvSpPr>
          <p:nvPr/>
        </p:nvSpPr>
        <p:spPr>
          <a:xfrm>
            <a:off x="838200" y="3771900"/>
            <a:ext cx="3009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Grand total, RPA, O&amp;M, and PAX update immediately as users change any planning input.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A5B0901-073E-401C-9F3C-F46E52AD305F}"/>
              </a:ext>
            </a:extLst>
          </p:cNvPr>
          <p:cNvSpPr>
            <a:spLocks noGrp="1"/>
          </p:cNvSpPr>
          <p:nvPr/>
        </p:nvSpPr>
        <p:spPr>
          <a:xfrm>
            <a:off x="4267200" y="2800350"/>
            <a:ext cx="335280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3D72FCB-B20A-4C71-A72D-D1D03CE0EC80}"/>
              </a:ext>
            </a:extLst>
          </p:cNvPr>
          <p:cNvSpPr>
            <a:spLocks noGrp="1"/>
          </p:cNvSpPr>
          <p:nvPr/>
        </p:nvSpPr>
        <p:spPr>
          <a:xfrm>
            <a:off x="4438650" y="2971800"/>
            <a:ext cx="533400" cy="285750"/>
          </a:xfrm>
          <a:prstGeom prst="roundRect">
            <a:avLst>
              <a:gd name="adj" fmla="val 26667"/>
            </a:avLst>
          </a:prstGeom>
          <a:solidFill>
            <a:srgbClr val="D9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54D45F-16F1-4382-85C9-9FAA7B1EEC4C}"/>
              </a:ext>
            </a:extLst>
          </p:cNvPr>
          <p:cNvSpPr>
            <a:spLocks noGrp="1"/>
          </p:cNvSpPr>
          <p:nvPr/>
        </p:nvSpPr>
        <p:spPr>
          <a:xfrm>
            <a:off x="4438650" y="3048000"/>
            <a:ext cx="5334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UNIT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3CE55E-C3A1-4A32-80CA-D90FF7A51266}"/>
              </a:ext>
            </a:extLst>
          </p:cNvPr>
          <p:cNvSpPr>
            <a:spLocks noGrp="1"/>
          </p:cNvSpPr>
          <p:nvPr/>
        </p:nvSpPr>
        <p:spPr>
          <a:xfrm>
            <a:off x="4438650" y="342900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Unit-specific planning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1CF6CB-54A8-4721-A10A-4CC25FBB4832}"/>
              </a:ext>
            </a:extLst>
          </p:cNvPr>
          <p:cNvSpPr>
            <a:spLocks noGrp="1"/>
          </p:cNvSpPr>
          <p:nvPr/>
        </p:nvSpPr>
        <p:spPr>
          <a:xfrm>
            <a:off x="4438650" y="3771900"/>
            <a:ext cx="3009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SG, AE, CAB, and A7 each have purpose-built sections for planning, players, white cell, and support logic.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7CB548A-8ECA-40B6-8AD7-D5DF10DF8533}"/>
              </a:ext>
            </a:extLst>
          </p:cNvPr>
          <p:cNvSpPr>
            <a:spLocks noGrp="1"/>
          </p:cNvSpPr>
          <p:nvPr/>
        </p:nvSpPr>
        <p:spPr>
          <a:xfrm>
            <a:off x="7867650" y="2800350"/>
            <a:ext cx="335280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AD2F0AC-79F4-4123-9EB3-1549F6C4E5FD}"/>
              </a:ext>
            </a:extLst>
          </p:cNvPr>
          <p:cNvSpPr>
            <a:spLocks noGrp="1"/>
          </p:cNvSpPr>
          <p:nvPr/>
        </p:nvSpPr>
        <p:spPr>
          <a:xfrm>
            <a:off x="8039100" y="2971800"/>
            <a:ext cx="533400" cy="285750"/>
          </a:xfrm>
          <a:prstGeom prst="roundRect">
            <a:avLst>
              <a:gd name="adj" fmla="val 26667"/>
            </a:avLst>
          </a:prstGeom>
          <a:solidFill>
            <a:srgbClr val="FFF2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BD67AC-2917-4C4F-A928-99DA6F7D45E5}"/>
              </a:ext>
            </a:extLst>
          </p:cNvPr>
          <p:cNvSpPr>
            <a:spLocks noGrp="1"/>
          </p:cNvSpPr>
          <p:nvPr/>
        </p:nvSpPr>
        <p:spPr>
          <a:xfrm>
            <a:off x="8039100" y="3048000"/>
            <a:ext cx="5334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RATE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23930F-A59B-402E-AA56-5C459E61EC02}"/>
              </a:ext>
            </a:extLst>
          </p:cNvPr>
          <p:cNvSpPr>
            <a:spLocks noGrp="1"/>
          </p:cNvSpPr>
          <p:nvPr/>
        </p:nvSpPr>
        <p:spPr>
          <a:xfrm>
            <a:off x="8039100" y="342900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Rate configuration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C0E85B-9575-4442-9085-3F1EDB62FA83}"/>
              </a:ext>
            </a:extLst>
          </p:cNvPr>
          <p:cNvSpPr>
            <a:spLocks noGrp="1"/>
          </p:cNvSpPr>
          <p:nvPr/>
        </p:nvSpPr>
        <p:spPr>
          <a:xfrm>
            <a:off x="8039100" y="3771900"/>
            <a:ext cx="3009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CPD, per diem, meals, airfare, rental assumptions, and budget targets are maintained centrally.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026DF3A-6F8B-4674-B5D7-90387EE104B9}"/>
              </a:ext>
            </a:extLst>
          </p:cNvPr>
          <p:cNvSpPr>
            <a:spLocks noGrp="1"/>
          </p:cNvSpPr>
          <p:nvPr/>
        </p:nvSpPr>
        <p:spPr>
          <a:xfrm>
            <a:off x="666750" y="4533900"/>
            <a:ext cx="335280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3E84EA3-CC6E-42A4-AE1B-CB92F3AB5764}"/>
              </a:ext>
            </a:extLst>
          </p:cNvPr>
          <p:cNvSpPr>
            <a:spLocks noGrp="1"/>
          </p:cNvSpPr>
          <p:nvPr/>
        </p:nvSpPr>
        <p:spPr>
          <a:xfrm>
            <a:off x="838200" y="4705350"/>
            <a:ext cx="533400" cy="285750"/>
          </a:xfrm>
          <a:prstGeom prst="roundRect">
            <a:avLst>
              <a:gd name="adj" fmla="val 26667"/>
            </a:avLst>
          </a:prstGeom>
          <a:solidFill>
            <a:srgbClr val="E8EE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F401F3-C5A9-4A31-8C50-A4C33F04C791}"/>
              </a:ext>
            </a:extLst>
          </p:cNvPr>
          <p:cNvSpPr>
            <a:spLocks noGrp="1"/>
          </p:cNvSpPr>
          <p:nvPr/>
        </p:nvSpPr>
        <p:spPr>
          <a:xfrm>
            <a:off x="838200" y="4781550"/>
            <a:ext cx="5334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RPT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5A4C4A-A32A-44AC-899C-3F6F29AE3B29}"/>
              </a:ext>
            </a:extLst>
          </p:cNvPr>
          <p:cNvSpPr>
            <a:spLocks noGrp="1"/>
          </p:cNvSpPr>
          <p:nvPr/>
        </p:nvSpPr>
        <p:spPr>
          <a:xfrm>
            <a:off x="838200" y="516255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Reporting and export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645A5A-8027-4A3D-A9BA-64AB3469FF5C}"/>
              </a:ext>
            </a:extLst>
          </p:cNvPr>
          <p:cNvSpPr>
            <a:spLocks noGrp="1"/>
          </p:cNvSpPr>
          <p:nvPr/>
        </p:nvSpPr>
        <p:spPr>
          <a:xfrm>
            <a:off x="838200" y="5505450"/>
            <a:ext cx="3009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Balance, print/PDF, and Excel output make the same live data ready for briefings and follow-on documents.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738885E-AB22-46DA-ADB6-3043A19BD7E5}"/>
              </a:ext>
            </a:extLst>
          </p:cNvPr>
          <p:cNvSpPr>
            <a:spLocks noGrp="1"/>
          </p:cNvSpPr>
          <p:nvPr/>
        </p:nvSpPr>
        <p:spPr>
          <a:xfrm>
            <a:off x="4267200" y="4533900"/>
            <a:ext cx="335280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FE59375-C027-4BED-AA13-6BBEB5905EE2}"/>
              </a:ext>
            </a:extLst>
          </p:cNvPr>
          <p:cNvSpPr>
            <a:spLocks noGrp="1"/>
          </p:cNvSpPr>
          <p:nvPr/>
        </p:nvSpPr>
        <p:spPr>
          <a:xfrm>
            <a:off x="4438650" y="4705350"/>
            <a:ext cx="533400" cy="285750"/>
          </a:xfrm>
          <a:prstGeom prst="roundRect">
            <a:avLst>
              <a:gd name="adj" fmla="val 26667"/>
            </a:avLst>
          </a:prstGeom>
          <a:solidFill>
            <a:srgbClr val="E4FB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5C599C3-74E8-4C9E-BC17-4C356D42E745}"/>
              </a:ext>
            </a:extLst>
          </p:cNvPr>
          <p:cNvSpPr>
            <a:spLocks noGrp="1"/>
          </p:cNvSpPr>
          <p:nvPr/>
        </p:nvSpPr>
        <p:spPr>
          <a:xfrm>
            <a:off x="4438650" y="4781550"/>
            <a:ext cx="5334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NOTE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DEBB12-6736-4B2D-AADE-6CF35F9F73EC}"/>
              </a:ext>
            </a:extLst>
          </p:cNvPr>
          <p:cNvSpPr>
            <a:spLocks noGrp="1"/>
          </p:cNvSpPr>
          <p:nvPr/>
        </p:nvSpPr>
        <p:spPr>
          <a:xfrm>
            <a:off x="4438650" y="516255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Refinements workspace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0AF9037-B9AC-4DC4-85CD-8CA5D0EF2F03}"/>
              </a:ext>
            </a:extLst>
          </p:cNvPr>
          <p:cNvSpPr>
            <a:spLocks noGrp="1"/>
          </p:cNvSpPr>
          <p:nvPr/>
        </p:nvSpPr>
        <p:spPr>
          <a:xfrm>
            <a:off x="4438650" y="5505450"/>
            <a:ext cx="3009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16177"/>
                </a:solidFill>
              </a:defRPr>
            </a:pPr>
            <a:r>
              <a:rPr sz="1125" b="0" dirty="0">
                <a:solidFill>
                  <a:srgbClr val="516177"/>
                </a:solidFill>
              </a:rPr>
              <a:t>Improvement notes, status tracking, and follow-up context live inside the app instead of in side notes.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1789074-03BD-434C-AE23-E9CB249D3114}"/>
              </a:ext>
            </a:extLst>
          </p:cNvPr>
          <p:cNvSpPr>
            <a:spLocks noGrp="1"/>
          </p:cNvSpPr>
          <p:nvPr/>
        </p:nvSpPr>
        <p:spPr>
          <a:xfrm>
            <a:off x="7867650" y="4533900"/>
            <a:ext cx="335280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51CCB70-EC0F-4041-957F-44440FCAAE96}"/>
              </a:ext>
            </a:extLst>
          </p:cNvPr>
          <p:cNvSpPr>
            <a:spLocks noGrp="1"/>
          </p:cNvSpPr>
          <p:nvPr/>
        </p:nvSpPr>
        <p:spPr>
          <a:xfrm>
            <a:off x="8039100" y="4705350"/>
            <a:ext cx="533400" cy="285750"/>
          </a:xfrm>
          <a:prstGeom prst="roundRect">
            <a:avLst>
              <a:gd name="adj" fmla="val 26667"/>
            </a:avLst>
          </a:prstGeom>
          <a:solidFill>
            <a:srgbClr val="FFF2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952AA6-57FE-4ADC-BCE5-C23265D6E112}"/>
              </a:ext>
            </a:extLst>
          </p:cNvPr>
          <p:cNvSpPr>
            <a:spLocks noGrp="1"/>
          </p:cNvSpPr>
          <p:nvPr/>
        </p:nvSpPr>
        <p:spPr>
          <a:xfrm>
            <a:off x="8039100" y="4781550"/>
            <a:ext cx="5334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SAFE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B4EBBA9-6F29-40DE-9B1E-A45F0ECDCC93}"/>
              </a:ext>
            </a:extLst>
          </p:cNvPr>
          <p:cNvSpPr>
            <a:spLocks noGrp="1"/>
          </p:cNvSpPr>
          <p:nvPr/>
        </p:nvSpPr>
        <p:spPr>
          <a:xfrm>
            <a:off x="8039100" y="516255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Safety controls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6D774CD-46C4-4811-9D95-1F5E0D2A69FD}"/>
              </a:ext>
            </a:extLst>
          </p:cNvPr>
          <p:cNvSpPr>
            <a:spLocks noGrp="1"/>
          </p:cNvSpPr>
          <p:nvPr/>
        </p:nvSpPr>
        <p:spPr>
          <a:xfrm>
            <a:off x="8039100" y="5505450"/>
            <a:ext cx="3009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Section clear, unit clear, authenticated persistence, and 10-step undo reduce the risk of bad edits during preparation.</a:t>
            </a:r>
          </a:p>
        </p:txBody>
      </p:sp>
    </p:spTree>
    <p:extLst>
      <p:ext uri="{BB962C8B-B14F-4D97-AF65-F5344CB8AC3E}">
        <p14:creationId xmlns:p14="http://schemas.microsoft.com/office/powerpoint/2010/main" val="674417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6B59452-19FC-42F7-BB7F-BFFAFE7BA831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F302D1B-9380-4571-9D06-CE49873601CB}"/>
              </a:ext>
            </a:extLst>
          </p:cNvPr>
          <p:cNvSpPr>
            <a:spLocks noGrp="1"/>
          </p:cNvSpPr>
          <p:nvPr/>
        </p:nvSpPr>
        <p:spPr>
          <a:xfrm>
            <a:off x="9810750" y="-857250"/>
            <a:ext cx="2476500" cy="2476500"/>
          </a:xfrm>
          <a:prstGeom prst="ellipse">
            <a:avLst/>
          </a:prstGeom>
          <a:solidFill>
            <a:srgbClr val="D9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061DFA5-C365-4AF0-AF67-A9A7930A8259}"/>
              </a:ext>
            </a:extLst>
          </p:cNvPr>
          <p:cNvSpPr>
            <a:spLocks noGrp="1"/>
          </p:cNvSpPr>
          <p:nvPr/>
        </p:nvSpPr>
        <p:spPr>
          <a:xfrm>
            <a:off x="9334500" y="5334000"/>
            <a:ext cx="2667000" cy="2667000"/>
          </a:xfrm>
          <a:prstGeom prst="ellipse">
            <a:avLst/>
          </a:prstGeom>
          <a:solidFill>
            <a:srgbClr val="FFF2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5698A8-83FD-4743-B80C-1BD7A831A334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LIVE DEMONSTRATION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2756C7-7E99-4FE6-B7D1-5BA4997039D7}"/>
              </a:ext>
            </a:extLst>
          </p:cNvPr>
          <p:cNvSpPr>
            <a:spLocks noGrp="1"/>
          </p:cNvSpPr>
          <p:nvPr/>
        </p:nvSpPr>
        <p:spPr>
          <a:xfrm>
            <a:off x="10287000" y="3810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05 / 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DADDF2-DDE2-42FC-9477-E0451D5214E2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65722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3243B"/>
                </a:solidFill>
              </a:defRPr>
            </a:pPr>
            <a:r>
              <a:rPr sz="2550" b="1">
                <a:solidFill>
                  <a:srgbClr val="13243B"/>
                </a:solidFill>
              </a:rPr>
              <a:t>Live Demonstration: Executive Dashboard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8CF844-A214-4797-ABC9-98E6815DE8D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477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16177"/>
                </a:solidFill>
              </a:defRPr>
            </a:pPr>
            <a:r>
              <a:rPr sz="1350" b="0">
                <a:solidFill>
                  <a:srgbClr val="516177"/>
                </a:solidFill>
              </a:rPr>
              <a:t>Leadership can immediately see total cost, funding split, PAX, and unit-level impact from one screen.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0F3EAD-D25B-43E9-ACE8-F7EA714D14F5}"/>
              </a:ext>
            </a:extLst>
          </p:cNvPr>
          <p:cNvSpPr>
            <a:spLocks noGrp="1"/>
          </p:cNvSpPr>
          <p:nvPr/>
        </p:nvSpPr>
        <p:spPr>
          <a:xfrm>
            <a:off x="4095750" y="2076450"/>
            <a:ext cx="7524750" cy="4267200"/>
          </a:xfrm>
          <a:prstGeom prst="roundRect">
            <a:avLst>
              <a:gd name="adj" fmla="val 1786"/>
            </a:avLst>
          </a:prstGeom>
          <a:solidFill>
            <a:srgbClr val="0B1830">
              <a:alpha val="3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544D94E-3005-447F-B0C5-7D7D13EDD3D2}"/>
              </a:ext>
            </a:extLst>
          </p:cNvPr>
          <p:cNvSpPr>
            <a:spLocks noGrp="1"/>
          </p:cNvSpPr>
          <p:nvPr/>
        </p:nvSpPr>
        <p:spPr>
          <a:xfrm>
            <a:off x="3981450" y="2038350"/>
            <a:ext cx="7524750" cy="42672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0478">
            <a:solidFill>
              <a:srgbClr val="CAD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5EDAFA-7353-4E42-9F19-B0A4568AFF43}"/>
              </a:ext>
            </a:extLst>
          </p:cNvPr>
          <p:cNvSpPr>
            <a:spLocks noGrp="1"/>
          </p:cNvSpPr>
          <p:nvPr/>
        </p:nvSpPr>
        <p:spPr>
          <a:xfrm>
            <a:off x="4152900" y="2076450"/>
            <a:ext cx="7219950" cy="247650"/>
          </a:xfrm>
          <a:prstGeom prst="roundRect">
            <a:avLst>
              <a:gd name="adj" fmla="val 30769"/>
            </a:avLst>
          </a:prstGeom>
          <a:solidFill>
            <a:srgbClr val="EEF4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503C149-58E6-4BB7-83ED-18BA5C5F29C1}"/>
              </a:ext>
            </a:extLst>
          </p:cNvPr>
          <p:cNvSpPr>
            <a:spLocks noGrp="1"/>
          </p:cNvSpPr>
          <p:nvPr/>
        </p:nvSpPr>
        <p:spPr>
          <a:xfrm>
            <a:off x="4267200" y="2162175"/>
            <a:ext cx="76200" cy="76200"/>
          </a:xfrm>
          <a:prstGeom prst="ellipse">
            <a:avLst/>
          </a:prstGeom>
          <a:solidFill>
            <a:srgbClr val="FF7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9D62BF-1FC7-4E2E-9352-562E471748A3}"/>
              </a:ext>
            </a:extLst>
          </p:cNvPr>
          <p:cNvSpPr>
            <a:spLocks noGrp="1"/>
          </p:cNvSpPr>
          <p:nvPr/>
        </p:nvSpPr>
        <p:spPr>
          <a:xfrm>
            <a:off x="4400550" y="2162175"/>
            <a:ext cx="76200" cy="76200"/>
          </a:xfrm>
          <a:prstGeom prst="ellipse">
            <a:avLst/>
          </a:prstGeom>
          <a:solidFill>
            <a:srgbClr val="F3B9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80AF3CD-4344-4724-B635-6B475B626EAA}"/>
              </a:ext>
            </a:extLst>
          </p:cNvPr>
          <p:cNvSpPr>
            <a:spLocks noGrp="1"/>
          </p:cNvSpPr>
          <p:nvPr/>
        </p:nvSpPr>
        <p:spPr>
          <a:xfrm>
            <a:off x="4533900" y="2162175"/>
            <a:ext cx="76200" cy="76200"/>
          </a:xfrm>
          <a:prstGeom prst="ellipse">
            <a:avLst/>
          </a:prstGeom>
          <a:solidFill>
            <a:srgbClr val="2F9E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62475" y="2438400"/>
            <a:ext cx="6400800" cy="3600450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2761A0-2DC7-4906-A21F-31B4A3A48F63}"/>
              </a:ext>
            </a:extLst>
          </p:cNvPr>
          <p:cNvSpPr>
            <a:spLocks noGrp="1"/>
          </p:cNvSpPr>
          <p:nvPr/>
        </p:nvSpPr>
        <p:spPr>
          <a:xfrm>
            <a:off x="4171950" y="5943600"/>
            <a:ext cx="1143000" cy="285750"/>
          </a:xfrm>
          <a:prstGeom prst="roundRect">
            <a:avLst>
              <a:gd name="adj" fmla="val 26667"/>
            </a:avLst>
          </a:prstGeom>
          <a:solidFill>
            <a:srgbClr val="0B18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8484A8-5B25-45C6-B42F-C7FC9E751F00}"/>
              </a:ext>
            </a:extLst>
          </p:cNvPr>
          <p:cNvSpPr>
            <a:spLocks noGrp="1"/>
          </p:cNvSpPr>
          <p:nvPr/>
        </p:nvSpPr>
        <p:spPr>
          <a:xfrm>
            <a:off x="4305300" y="6010275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2B1AC63-A7E1-40A5-904D-EE642024B168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28575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6E4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C5183B-35C9-45C1-9BBE-DC8F8A788FF9}"/>
              </a:ext>
            </a:extLst>
          </p:cNvPr>
          <p:cNvSpPr>
            <a:spLocks noGrp="1"/>
          </p:cNvSpPr>
          <p:nvPr/>
        </p:nvSpPr>
        <p:spPr>
          <a:xfrm>
            <a:off x="819150" y="2514600"/>
            <a:ext cx="2552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B78FF"/>
                </a:solidFill>
              </a:defRPr>
            </a:pPr>
            <a:r>
              <a:rPr sz="975" b="1">
                <a:solidFill>
                  <a:srgbClr val="2B78FF"/>
                </a:solidFill>
              </a:rPr>
              <a:t>At-a-glance totals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48840A-CF85-43DC-AFC9-B4796E0096F4}"/>
              </a:ext>
            </a:extLst>
          </p:cNvPr>
          <p:cNvSpPr>
            <a:spLocks noGrp="1"/>
          </p:cNvSpPr>
          <p:nvPr/>
        </p:nvSpPr>
        <p:spPr>
          <a:xfrm>
            <a:off x="819150" y="2724150"/>
            <a:ext cx="2552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43B"/>
                </a:solidFill>
              </a:defRPr>
            </a:pPr>
            <a:r>
              <a:rPr sz="1050" b="0">
                <a:solidFill>
                  <a:srgbClr val="13243B"/>
                </a:solidFill>
              </a:rPr>
              <a:t>Grand Total, RPA, O&amp;M, and PAX are visible immediately at the top of the screen.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E55A8B8-B125-4D05-AA88-A5E80AD33870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28575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6E4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3119D6-B959-40DD-9EFC-A2BF869D94BC}"/>
              </a:ext>
            </a:extLst>
          </p:cNvPr>
          <p:cNvSpPr>
            <a:spLocks noGrp="1"/>
          </p:cNvSpPr>
          <p:nvPr/>
        </p:nvSpPr>
        <p:spPr>
          <a:xfrm>
            <a:off x="819150" y="3452813"/>
            <a:ext cx="2552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B78FF"/>
                </a:solidFill>
              </a:defRPr>
            </a:pPr>
            <a:r>
              <a:rPr sz="975" b="1" dirty="0">
                <a:solidFill>
                  <a:srgbClr val="2B78FF"/>
                </a:solidFill>
              </a:rPr>
              <a:t>Executive briefing table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4DB73B-58CD-478F-AF95-63C0DC3326D1}"/>
              </a:ext>
            </a:extLst>
          </p:cNvPr>
          <p:cNvSpPr>
            <a:spLocks noGrp="1"/>
          </p:cNvSpPr>
          <p:nvPr/>
        </p:nvSpPr>
        <p:spPr>
          <a:xfrm>
            <a:off x="819150" y="3657600"/>
            <a:ext cx="2552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43B"/>
                </a:solidFill>
              </a:defRPr>
            </a:pPr>
            <a:r>
              <a:rPr sz="1050" b="0" dirty="0">
                <a:solidFill>
                  <a:srgbClr val="13243B"/>
                </a:solidFill>
              </a:rPr>
              <a:t>Unit-level totals summarize how SG, AE, CAB, and A7 each contribute to the overall cost picture.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2EC9CAD-BC22-4E2A-BC7E-879B770E559A}"/>
              </a:ext>
            </a:extLst>
          </p:cNvPr>
          <p:cNvSpPr>
            <a:spLocks noGrp="1"/>
          </p:cNvSpPr>
          <p:nvPr/>
        </p:nvSpPr>
        <p:spPr>
          <a:xfrm>
            <a:off x="666750" y="4362450"/>
            <a:ext cx="28575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6E4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0DE691-12B9-47E3-9D2B-AB8F01666FC9}"/>
              </a:ext>
            </a:extLst>
          </p:cNvPr>
          <p:cNvSpPr>
            <a:spLocks noGrp="1"/>
          </p:cNvSpPr>
          <p:nvPr/>
        </p:nvSpPr>
        <p:spPr>
          <a:xfrm>
            <a:off x="819150" y="4495800"/>
            <a:ext cx="2552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B78FF"/>
                </a:solidFill>
              </a:defRPr>
            </a:pPr>
            <a:r>
              <a:rPr sz="975" b="1">
                <a:solidFill>
                  <a:srgbClr val="2B78FF"/>
                </a:solidFill>
              </a:rPr>
              <a:t>Visual comparison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0D48FC-BAF1-4A81-9025-7FCC77FCA78D}"/>
              </a:ext>
            </a:extLst>
          </p:cNvPr>
          <p:cNvSpPr>
            <a:spLocks noGrp="1"/>
          </p:cNvSpPr>
          <p:nvPr/>
        </p:nvSpPr>
        <p:spPr>
          <a:xfrm>
            <a:off x="819150" y="4705350"/>
            <a:ext cx="2552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43B"/>
                </a:solidFill>
              </a:defRPr>
            </a:pPr>
            <a:r>
              <a:rPr sz="1050" b="0">
                <a:solidFill>
                  <a:srgbClr val="13243B"/>
                </a:solidFill>
              </a:rPr>
              <a:t>Charts make the funding mix and cost distribution easier to explain in a live room.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2352410-E1DF-477C-9156-4A8DFFAA7CC6}"/>
              </a:ext>
            </a:extLst>
          </p:cNvPr>
          <p:cNvSpPr>
            <a:spLocks noGrp="1"/>
          </p:cNvSpPr>
          <p:nvPr/>
        </p:nvSpPr>
        <p:spPr>
          <a:xfrm>
            <a:off x="666750" y="5353050"/>
            <a:ext cx="28575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6E4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560C06-64AA-4967-8B95-439314DDCDC9}"/>
              </a:ext>
            </a:extLst>
          </p:cNvPr>
          <p:cNvSpPr>
            <a:spLocks noGrp="1"/>
          </p:cNvSpPr>
          <p:nvPr/>
        </p:nvSpPr>
        <p:spPr>
          <a:xfrm>
            <a:off x="819150" y="5438775"/>
            <a:ext cx="2552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B78FF"/>
                </a:solidFill>
              </a:defRPr>
            </a:pPr>
            <a:r>
              <a:rPr sz="975" b="1">
                <a:solidFill>
                  <a:srgbClr val="2B78FF"/>
                </a:solidFill>
              </a:rPr>
              <a:t>Fast scenario review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C838D3-16E9-4002-BF53-72C644B9F90C}"/>
              </a:ext>
            </a:extLst>
          </p:cNvPr>
          <p:cNvSpPr>
            <a:spLocks noGrp="1"/>
          </p:cNvSpPr>
          <p:nvPr/>
        </p:nvSpPr>
        <p:spPr>
          <a:xfrm>
            <a:off x="819150" y="5619750"/>
            <a:ext cx="2552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43B"/>
                </a:solidFill>
              </a:defRPr>
            </a:pPr>
            <a:r>
              <a:rPr sz="1050" b="0" dirty="0">
                <a:solidFill>
                  <a:srgbClr val="13243B"/>
                </a:solidFill>
              </a:rPr>
              <a:t>A planner can update assumptions and keep leadership oriented without leaving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327903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66EB50E-50C3-42C4-B1B9-994E96655379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5998193-04C0-48F2-A090-2F0B58412F1E}"/>
              </a:ext>
            </a:extLst>
          </p:cNvPr>
          <p:cNvSpPr>
            <a:spLocks noGrp="1"/>
          </p:cNvSpPr>
          <p:nvPr/>
        </p:nvSpPr>
        <p:spPr>
          <a:xfrm>
            <a:off x="9810750" y="-857250"/>
            <a:ext cx="2476500" cy="2476500"/>
          </a:xfrm>
          <a:prstGeom prst="ellipse">
            <a:avLst/>
          </a:prstGeom>
          <a:solidFill>
            <a:srgbClr val="D9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8AD5DB8-3B31-45D3-B57F-6B3719504D49}"/>
              </a:ext>
            </a:extLst>
          </p:cNvPr>
          <p:cNvSpPr>
            <a:spLocks noGrp="1"/>
          </p:cNvSpPr>
          <p:nvPr/>
        </p:nvSpPr>
        <p:spPr>
          <a:xfrm>
            <a:off x="9334500" y="5334000"/>
            <a:ext cx="2667000" cy="2667000"/>
          </a:xfrm>
          <a:prstGeom prst="ellipse">
            <a:avLst/>
          </a:prstGeom>
          <a:solidFill>
            <a:srgbClr val="FFF2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3AA178-1137-427B-B271-26BC02634298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LIVE DEMONSTRATION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56DC30-82CB-41B1-88AA-2BD37086C500}"/>
              </a:ext>
            </a:extLst>
          </p:cNvPr>
          <p:cNvSpPr>
            <a:spLocks noGrp="1"/>
          </p:cNvSpPr>
          <p:nvPr/>
        </p:nvSpPr>
        <p:spPr>
          <a:xfrm>
            <a:off x="10287000" y="3810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06 / 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203B1E-4F0D-4C13-9940-9CCA0ECEFE0B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65722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3243B"/>
                </a:solidFill>
              </a:defRPr>
            </a:pPr>
            <a:r>
              <a:rPr sz="2550" b="1">
                <a:solidFill>
                  <a:srgbClr val="13243B"/>
                </a:solidFill>
              </a:rPr>
              <a:t>Live Demonstration: From Unit Entry to Reporting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F3763D-328B-442B-BA89-2B7CED639979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477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16177"/>
                </a:solidFill>
              </a:defRPr>
            </a:pPr>
            <a:r>
              <a:rPr sz="1350" b="0">
                <a:solidFill>
                  <a:srgbClr val="516177"/>
                </a:solidFill>
              </a:rPr>
              <a:t>The same data drives detailed unit planning, report generation, and the refinements loop.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0BE6547-FFE7-42FF-98F3-50501B5D6F1D}"/>
              </a:ext>
            </a:extLst>
          </p:cNvPr>
          <p:cNvSpPr>
            <a:spLocks noGrp="1"/>
          </p:cNvSpPr>
          <p:nvPr/>
        </p:nvSpPr>
        <p:spPr>
          <a:xfrm>
            <a:off x="762000" y="2514600"/>
            <a:ext cx="6286500" cy="3752850"/>
          </a:xfrm>
          <a:prstGeom prst="roundRect">
            <a:avLst>
              <a:gd name="adj" fmla="val 2030"/>
            </a:avLst>
          </a:prstGeom>
          <a:solidFill>
            <a:srgbClr val="0B1830">
              <a:alpha val="3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D4B5EDA-2627-4FC1-973E-E06149F6D86D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6286500" cy="3752850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0478">
            <a:solidFill>
              <a:srgbClr val="CAD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54E5B20-46CD-4B19-84F4-F8AEF658D1B0}"/>
              </a:ext>
            </a:extLst>
          </p:cNvPr>
          <p:cNvSpPr>
            <a:spLocks noGrp="1"/>
          </p:cNvSpPr>
          <p:nvPr/>
        </p:nvSpPr>
        <p:spPr>
          <a:xfrm>
            <a:off x="819150" y="2514600"/>
            <a:ext cx="5981700" cy="247650"/>
          </a:xfrm>
          <a:prstGeom prst="roundRect">
            <a:avLst>
              <a:gd name="adj" fmla="val 30769"/>
            </a:avLst>
          </a:prstGeom>
          <a:solidFill>
            <a:srgbClr val="EEF4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101DBF7-9E6E-4781-81F6-99DA2048E8FC}"/>
              </a:ext>
            </a:extLst>
          </p:cNvPr>
          <p:cNvSpPr>
            <a:spLocks noGrp="1"/>
          </p:cNvSpPr>
          <p:nvPr/>
        </p:nvSpPr>
        <p:spPr>
          <a:xfrm>
            <a:off x="933450" y="2600325"/>
            <a:ext cx="76200" cy="76200"/>
          </a:xfrm>
          <a:prstGeom prst="ellipse">
            <a:avLst/>
          </a:prstGeom>
          <a:solidFill>
            <a:srgbClr val="FF7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7942C3B-1F3F-42F5-B5C6-F61D046D04EA}"/>
              </a:ext>
            </a:extLst>
          </p:cNvPr>
          <p:cNvSpPr>
            <a:spLocks noGrp="1"/>
          </p:cNvSpPr>
          <p:nvPr/>
        </p:nvSpPr>
        <p:spPr>
          <a:xfrm>
            <a:off x="1066800" y="2600325"/>
            <a:ext cx="76200" cy="76200"/>
          </a:xfrm>
          <a:prstGeom prst="ellipse">
            <a:avLst/>
          </a:prstGeom>
          <a:solidFill>
            <a:srgbClr val="F3B9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ACE3D41-1404-4EC6-84B4-5816056AC280}"/>
              </a:ext>
            </a:extLst>
          </p:cNvPr>
          <p:cNvSpPr>
            <a:spLocks noGrp="1"/>
          </p:cNvSpPr>
          <p:nvPr/>
        </p:nvSpPr>
        <p:spPr>
          <a:xfrm>
            <a:off x="1200150" y="2600325"/>
            <a:ext cx="76200" cy="76200"/>
          </a:xfrm>
          <a:prstGeom prst="ellipse">
            <a:avLst/>
          </a:prstGeom>
          <a:solidFill>
            <a:srgbClr val="2F9E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6800" y="2876550"/>
            <a:ext cx="5486400" cy="3086100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BA623F0-2444-4854-B933-7C8BB0EE74C4}"/>
              </a:ext>
            </a:extLst>
          </p:cNvPr>
          <p:cNvSpPr>
            <a:spLocks noGrp="1"/>
          </p:cNvSpPr>
          <p:nvPr/>
        </p:nvSpPr>
        <p:spPr>
          <a:xfrm>
            <a:off x="838200" y="5867400"/>
            <a:ext cx="1143000" cy="285750"/>
          </a:xfrm>
          <a:prstGeom prst="roundRect">
            <a:avLst>
              <a:gd name="adj" fmla="val 26667"/>
            </a:avLst>
          </a:prstGeom>
          <a:solidFill>
            <a:srgbClr val="0B18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FA65B9-8BD4-4D88-AAD5-2DC13DBB0877}"/>
              </a:ext>
            </a:extLst>
          </p:cNvPr>
          <p:cNvSpPr>
            <a:spLocks noGrp="1"/>
          </p:cNvSpPr>
          <p:nvPr/>
        </p:nvSpPr>
        <p:spPr>
          <a:xfrm>
            <a:off x="971550" y="5934075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Unit Planning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D52EC1-D96C-42D3-998A-87279A38E00F}"/>
              </a:ext>
            </a:extLst>
          </p:cNvPr>
          <p:cNvSpPr>
            <a:spLocks noGrp="1"/>
          </p:cNvSpPr>
          <p:nvPr/>
        </p:nvSpPr>
        <p:spPr>
          <a:xfrm>
            <a:off x="7429500" y="2514600"/>
            <a:ext cx="4191000" cy="1771650"/>
          </a:xfrm>
          <a:prstGeom prst="roundRect">
            <a:avLst>
              <a:gd name="adj" fmla="val 4301"/>
            </a:avLst>
          </a:prstGeom>
          <a:solidFill>
            <a:srgbClr val="0B1830">
              <a:alpha val="3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5A00EA4-6A70-4938-9A77-E7E6C9F9148F}"/>
              </a:ext>
            </a:extLst>
          </p:cNvPr>
          <p:cNvSpPr>
            <a:spLocks noGrp="1"/>
          </p:cNvSpPr>
          <p:nvPr/>
        </p:nvSpPr>
        <p:spPr>
          <a:xfrm>
            <a:off x="7334250" y="2381250"/>
            <a:ext cx="4191000" cy="177165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0478">
            <a:solidFill>
              <a:srgbClr val="CAD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1F0C8F1-E2EE-4177-A8F1-F58F0ED3FCA7}"/>
              </a:ext>
            </a:extLst>
          </p:cNvPr>
          <p:cNvSpPr>
            <a:spLocks noGrp="1"/>
          </p:cNvSpPr>
          <p:nvPr/>
        </p:nvSpPr>
        <p:spPr>
          <a:xfrm>
            <a:off x="7486650" y="2514600"/>
            <a:ext cx="3886200" cy="247650"/>
          </a:xfrm>
          <a:prstGeom prst="roundRect">
            <a:avLst>
              <a:gd name="adj" fmla="val 30769"/>
            </a:avLst>
          </a:prstGeom>
          <a:solidFill>
            <a:srgbClr val="EEF4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5FDA514-3A2F-46E6-998E-F932E4FF80A4}"/>
              </a:ext>
            </a:extLst>
          </p:cNvPr>
          <p:cNvSpPr>
            <a:spLocks noGrp="1"/>
          </p:cNvSpPr>
          <p:nvPr/>
        </p:nvSpPr>
        <p:spPr>
          <a:xfrm>
            <a:off x="7600950" y="2600325"/>
            <a:ext cx="76200" cy="76200"/>
          </a:xfrm>
          <a:prstGeom prst="ellipse">
            <a:avLst/>
          </a:prstGeom>
          <a:solidFill>
            <a:srgbClr val="FF7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0EF5C4C-6AF5-4342-A91B-2D0DAFFD0A8D}"/>
              </a:ext>
            </a:extLst>
          </p:cNvPr>
          <p:cNvSpPr>
            <a:spLocks noGrp="1"/>
          </p:cNvSpPr>
          <p:nvPr/>
        </p:nvSpPr>
        <p:spPr>
          <a:xfrm>
            <a:off x="7734300" y="2600325"/>
            <a:ext cx="76200" cy="76200"/>
          </a:xfrm>
          <a:prstGeom prst="ellipse">
            <a:avLst/>
          </a:prstGeom>
          <a:solidFill>
            <a:srgbClr val="F3B9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AC16BF4-2C85-4158-BEBA-CC3C24D3E1C4}"/>
              </a:ext>
            </a:extLst>
          </p:cNvPr>
          <p:cNvSpPr>
            <a:spLocks noGrp="1"/>
          </p:cNvSpPr>
          <p:nvPr/>
        </p:nvSpPr>
        <p:spPr>
          <a:xfrm>
            <a:off x="7867650" y="2600325"/>
            <a:ext cx="76200" cy="76200"/>
          </a:xfrm>
          <a:prstGeom prst="ellipse">
            <a:avLst/>
          </a:prstGeom>
          <a:solidFill>
            <a:srgbClr val="2F9E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447617" y="2876550"/>
            <a:ext cx="1964267" cy="1104900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C8283A9-6B2F-460D-AE2E-F49713AA58D2}"/>
              </a:ext>
            </a:extLst>
          </p:cNvPr>
          <p:cNvSpPr>
            <a:spLocks noGrp="1"/>
          </p:cNvSpPr>
          <p:nvPr/>
        </p:nvSpPr>
        <p:spPr>
          <a:xfrm>
            <a:off x="7505700" y="3886200"/>
            <a:ext cx="1143000" cy="285750"/>
          </a:xfrm>
          <a:prstGeom prst="roundRect">
            <a:avLst>
              <a:gd name="adj" fmla="val 26667"/>
            </a:avLst>
          </a:prstGeom>
          <a:solidFill>
            <a:srgbClr val="0B18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82F143-5F98-47F7-A4DC-93C549498FDF}"/>
              </a:ext>
            </a:extLst>
          </p:cNvPr>
          <p:cNvSpPr>
            <a:spLocks noGrp="1"/>
          </p:cNvSpPr>
          <p:nvPr/>
        </p:nvSpPr>
        <p:spPr>
          <a:xfrm>
            <a:off x="7639050" y="3952875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Reports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7435866-ABC6-4B67-8015-2FEA293E0667}"/>
              </a:ext>
            </a:extLst>
          </p:cNvPr>
          <p:cNvSpPr>
            <a:spLocks noGrp="1"/>
          </p:cNvSpPr>
          <p:nvPr/>
        </p:nvSpPr>
        <p:spPr>
          <a:xfrm>
            <a:off x="7429500" y="4495800"/>
            <a:ext cx="4191000" cy="1771650"/>
          </a:xfrm>
          <a:prstGeom prst="roundRect">
            <a:avLst>
              <a:gd name="adj" fmla="val 4301"/>
            </a:avLst>
          </a:prstGeom>
          <a:solidFill>
            <a:srgbClr val="0B1830">
              <a:alpha val="3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3496137-F510-433A-AEB7-2951D4696772}"/>
              </a:ext>
            </a:extLst>
          </p:cNvPr>
          <p:cNvSpPr>
            <a:spLocks noGrp="1"/>
          </p:cNvSpPr>
          <p:nvPr/>
        </p:nvSpPr>
        <p:spPr>
          <a:xfrm>
            <a:off x="7334250" y="4362450"/>
            <a:ext cx="4191000" cy="177165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0478">
            <a:solidFill>
              <a:srgbClr val="CAD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E47B100-56AF-47FD-AD19-25E8E5DB6CC3}"/>
              </a:ext>
            </a:extLst>
          </p:cNvPr>
          <p:cNvSpPr>
            <a:spLocks noGrp="1"/>
          </p:cNvSpPr>
          <p:nvPr/>
        </p:nvSpPr>
        <p:spPr>
          <a:xfrm>
            <a:off x="7486650" y="4495800"/>
            <a:ext cx="3886200" cy="247650"/>
          </a:xfrm>
          <a:prstGeom prst="roundRect">
            <a:avLst>
              <a:gd name="adj" fmla="val 30769"/>
            </a:avLst>
          </a:prstGeom>
          <a:solidFill>
            <a:srgbClr val="EEF4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D20D909-CCD0-46D1-840A-5CD5F28F2648}"/>
              </a:ext>
            </a:extLst>
          </p:cNvPr>
          <p:cNvSpPr>
            <a:spLocks noGrp="1"/>
          </p:cNvSpPr>
          <p:nvPr/>
        </p:nvSpPr>
        <p:spPr>
          <a:xfrm>
            <a:off x="7600950" y="4581525"/>
            <a:ext cx="76200" cy="76200"/>
          </a:xfrm>
          <a:prstGeom prst="ellipse">
            <a:avLst/>
          </a:prstGeom>
          <a:solidFill>
            <a:srgbClr val="FF7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EAB1896-4B6A-4E58-8970-33726D842489}"/>
              </a:ext>
            </a:extLst>
          </p:cNvPr>
          <p:cNvSpPr>
            <a:spLocks noGrp="1"/>
          </p:cNvSpPr>
          <p:nvPr/>
        </p:nvSpPr>
        <p:spPr>
          <a:xfrm>
            <a:off x="7734300" y="4581525"/>
            <a:ext cx="76200" cy="76200"/>
          </a:xfrm>
          <a:prstGeom prst="ellipse">
            <a:avLst/>
          </a:prstGeom>
          <a:solidFill>
            <a:srgbClr val="F3B9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4854959-2748-4053-AC26-446158377815}"/>
              </a:ext>
            </a:extLst>
          </p:cNvPr>
          <p:cNvSpPr>
            <a:spLocks noGrp="1"/>
          </p:cNvSpPr>
          <p:nvPr/>
        </p:nvSpPr>
        <p:spPr>
          <a:xfrm>
            <a:off x="7867650" y="4581525"/>
            <a:ext cx="76200" cy="76200"/>
          </a:xfrm>
          <a:prstGeom prst="ellipse">
            <a:avLst/>
          </a:prstGeom>
          <a:solidFill>
            <a:srgbClr val="2F9E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447617" y="4857750"/>
            <a:ext cx="1964267" cy="1104900"/>
          </a:xfrm>
          <a:prstGeom prst="rect">
            <a:avLst/>
          </a:prstGeom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45B555D-980E-40B0-8496-F68BE5C84495}"/>
              </a:ext>
            </a:extLst>
          </p:cNvPr>
          <p:cNvSpPr>
            <a:spLocks noGrp="1"/>
          </p:cNvSpPr>
          <p:nvPr/>
        </p:nvSpPr>
        <p:spPr>
          <a:xfrm>
            <a:off x="7505700" y="5867400"/>
            <a:ext cx="1143000" cy="285750"/>
          </a:xfrm>
          <a:prstGeom prst="roundRect">
            <a:avLst>
              <a:gd name="adj" fmla="val 26667"/>
            </a:avLst>
          </a:prstGeom>
          <a:solidFill>
            <a:srgbClr val="0B18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BB05A49-F7B7-4BED-A001-62578447AF72}"/>
              </a:ext>
            </a:extLst>
          </p:cNvPr>
          <p:cNvSpPr>
            <a:spLocks noGrp="1"/>
          </p:cNvSpPr>
          <p:nvPr/>
        </p:nvSpPr>
        <p:spPr>
          <a:xfrm>
            <a:off x="7639050" y="5934075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Refinements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5F273D7-75A6-488D-9F1F-3B1DC1DA7421}"/>
              </a:ext>
            </a:extLst>
          </p:cNvPr>
          <p:cNvSpPr>
            <a:spLocks noGrp="1"/>
          </p:cNvSpPr>
          <p:nvPr/>
        </p:nvSpPr>
        <p:spPr>
          <a:xfrm>
            <a:off x="838200" y="6283364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11E832C-B644-4408-9A1E-5925779F14EB}"/>
              </a:ext>
            </a:extLst>
          </p:cNvPr>
          <p:cNvSpPr>
            <a:spLocks noGrp="1"/>
          </p:cNvSpPr>
          <p:nvPr/>
        </p:nvSpPr>
        <p:spPr>
          <a:xfrm>
            <a:off x="971550" y="6353175"/>
            <a:ext cx="1352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 dirty="0">
                <a:solidFill>
                  <a:srgbClr val="0B1830"/>
                </a:solidFill>
              </a:rPr>
              <a:t>ENTER COST DRIVERS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8E00565-26DB-4CAC-B35D-0CDFD93543C7}"/>
              </a:ext>
            </a:extLst>
          </p:cNvPr>
          <p:cNvSpPr>
            <a:spLocks noGrp="1"/>
          </p:cNvSpPr>
          <p:nvPr/>
        </p:nvSpPr>
        <p:spPr>
          <a:xfrm>
            <a:off x="2533650" y="6265591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16177"/>
                </a:solidFill>
              </a:defRPr>
            </a:pPr>
            <a:r>
              <a:rPr sz="975" b="0" dirty="0">
                <a:solidFill>
                  <a:srgbClr val="516177"/>
                </a:solidFill>
              </a:rPr>
              <a:t>Unit pages let users work at the level planners actually need: section totals, duty days, locations, contracts, and execution costs.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B3076AE-3B46-404B-A60F-DEB145AA8930}"/>
              </a:ext>
            </a:extLst>
          </p:cNvPr>
          <p:cNvSpPr>
            <a:spLocks noGrp="1"/>
          </p:cNvSpPr>
          <p:nvPr/>
        </p:nvSpPr>
        <p:spPr>
          <a:xfrm>
            <a:off x="7492794" y="6283364"/>
            <a:ext cx="1428750" cy="285750"/>
          </a:xfrm>
          <a:prstGeom prst="roundRect">
            <a:avLst>
              <a:gd name="adj" fmla="val 26667"/>
            </a:avLst>
          </a:prstGeom>
          <a:solidFill>
            <a:srgbClr val="D9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AB305E-599C-4C7E-83AC-F5BE446696D9}"/>
              </a:ext>
            </a:extLst>
          </p:cNvPr>
          <p:cNvSpPr>
            <a:spLocks noGrp="1"/>
          </p:cNvSpPr>
          <p:nvPr/>
        </p:nvSpPr>
        <p:spPr>
          <a:xfrm>
            <a:off x="7600950" y="6350039"/>
            <a:ext cx="1162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 dirty="0">
                <a:solidFill>
                  <a:srgbClr val="0B1830"/>
                </a:solidFill>
              </a:rPr>
              <a:t>BRIEF + FOLLOW UP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E02CCA8-CD97-49F5-8A20-0F4228213724}"/>
              </a:ext>
            </a:extLst>
          </p:cNvPr>
          <p:cNvSpPr>
            <a:spLocks noGrp="1"/>
          </p:cNvSpPr>
          <p:nvPr/>
        </p:nvSpPr>
        <p:spPr>
          <a:xfrm>
            <a:off x="9029700" y="6216689"/>
            <a:ext cx="2247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16177"/>
                </a:solidFill>
              </a:defRPr>
            </a:pPr>
            <a:r>
              <a:rPr sz="975" b="0" dirty="0">
                <a:solidFill>
                  <a:srgbClr val="516177"/>
                </a:solidFill>
              </a:rPr>
              <a:t>Report output and refinements keep the briefing package and improvement tracking inside the same environment.</a:t>
            </a:r>
          </a:p>
        </p:txBody>
      </p:sp>
    </p:spTree>
    <p:extLst>
      <p:ext uri="{BB962C8B-B14F-4D97-AF65-F5344CB8AC3E}">
        <p14:creationId xmlns:p14="http://schemas.microsoft.com/office/powerpoint/2010/main" val="1363406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E54EA15-A5F5-402F-990B-7B775DA0835C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8D69A8E-8566-4238-9F05-01A8A95CA049}"/>
              </a:ext>
            </a:extLst>
          </p:cNvPr>
          <p:cNvSpPr>
            <a:spLocks noGrp="1"/>
          </p:cNvSpPr>
          <p:nvPr/>
        </p:nvSpPr>
        <p:spPr>
          <a:xfrm>
            <a:off x="9810750" y="-857250"/>
            <a:ext cx="2476500" cy="2476500"/>
          </a:xfrm>
          <a:prstGeom prst="ellipse">
            <a:avLst/>
          </a:prstGeom>
          <a:solidFill>
            <a:srgbClr val="D9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B7F8AC0-4298-463A-97FB-BCD54FDB171C}"/>
              </a:ext>
            </a:extLst>
          </p:cNvPr>
          <p:cNvSpPr>
            <a:spLocks noGrp="1"/>
          </p:cNvSpPr>
          <p:nvPr/>
        </p:nvSpPr>
        <p:spPr>
          <a:xfrm>
            <a:off x="9334500" y="5334000"/>
            <a:ext cx="2667000" cy="2667000"/>
          </a:xfrm>
          <a:prstGeom prst="ellipse">
            <a:avLst/>
          </a:prstGeom>
          <a:solidFill>
            <a:srgbClr val="FFF2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5BC703-56E7-48A0-8E7D-0279FDCB277F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FUTURE POTENTIAL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CB3B3-6DFD-454B-A8C4-D7C1C5EB2969}"/>
              </a:ext>
            </a:extLst>
          </p:cNvPr>
          <p:cNvSpPr>
            <a:spLocks noGrp="1"/>
          </p:cNvSpPr>
          <p:nvPr/>
        </p:nvSpPr>
        <p:spPr>
          <a:xfrm>
            <a:off x="10287000" y="3810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07 / 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FA522E-2A2A-4B3F-BD34-6FCC8230EBFC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65722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3243B"/>
                </a:solidFill>
              </a:defRPr>
            </a:pPr>
            <a:r>
              <a:rPr sz="2550" b="1">
                <a:solidFill>
                  <a:srgbClr val="13243B"/>
                </a:solidFill>
              </a:rPr>
              <a:t>Future Potential Uses and Improvements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4559D4-A027-46B0-9262-D3101DD9388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477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16177"/>
                </a:solidFill>
              </a:defRPr>
            </a:pPr>
            <a:r>
              <a:rPr sz="1350" b="0">
                <a:solidFill>
                  <a:srgbClr val="516177"/>
                </a:solidFill>
              </a:rPr>
              <a:t>The current version already replaces manual budgeting; the next phase can turn it into a broader planning platform.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4E45374-79BF-4434-9FE1-90BAEDF6F8DD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3333750" cy="19812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2AA098-EAB8-49D8-BEAD-1D87628CDA6D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3333750" cy="76200"/>
          </a:xfrm>
          <a:prstGeom prst="rect">
            <a:avLst/>
          </a:prstGeom>
          <a:solidFill>
            <a:srgbClr val="2B7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CD76D7-706B-4108-900A-E98A0040F839}"/>
              </a:ext>
            </a:extLst>
          </p:cNvPr>
          <p:cNvSpPr>
            <a:spLocks noGrp="1"/>
          </p:cNvSpPr>
          <p:nvPr/>
        </p:nvSpPr>
        <p:spPr>
          <a:xfrm>
            <a:off x="857250" y="278130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Near-term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3B77BE-47E6-4C32-8965-BD298D5AB660}"/>
              </a:ext>
            </a:extLst>
          </p:cNvPr>
          <p:cNvSpPr>
            <a:spLocks noGrp="1"/>
          </p:cNvSpPr>
          <p:nvPr/>
        </p:nvSpPr>
        <p:spPr>
          <a:xfrm>
            <a:off x="857250" y="304800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Improve the current operating loop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C276AC4-BE64-4CAB-B427-85879E25CE84}"/>
              </a:ext>
            </a:extLst>
          </p:cNvPr>
          <p:cNvSpPr>
            <a:spLocks noGrp="1"/>
          </p:cNvSpPr>
          <p:nvPr/>
        </p:nvSpPr>
        <p:spPr>
          <a:xfrm>
            <a:off x="857250" y="3453393"/>
            <a:ext cx="76200" cy="76200"/>
          </a:xfrm>
          <a:prstGeom prst="ellipse">
            <a:avLst/>
          </a:prstGeom>
          <a:solidFill>
            <a:srgbClr val="2B7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E3B126-A98D-4F20-B67C-8868A7D64638}"/>
              </a:ext>
            </a:extLst>
          </p:cNvPr>
          <p:cNvSpPr>
            <a:spLocks noGrp="1"/>
          </p:cNvSpPr>
          <p:nvPr/>
        </p:nvSpPr>
        <p:spPr>
          <a:xfrm>
            <a:off x="1085850" y="3362325"/>
            <a:ext cx="276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3243B"/>
                </a:solidFill>
              </a:defRPr>
            </a:pPr>
            <a:r>
              <a:rPr sz="1275" b="0" dirty="0">
                <a:solidFill>
                  <a:srgbClr val="13243B"/>
                </a:solidFill>
              </a:rPr>
              <a:t>Saved report packs and leadership templates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3B2890A-DA80-4B4E-8DA9-3E99772AB8CA}"/>
              </a:ext>
            </a:extLst>
          </p:cNvPr>
          <p:cNvSpPr>
            <a:spLocks noGrp="1"/>
          </p:cNvSpPr>
          <p:nvPr/>
        </p:nvSpPr>
        <p:spPr>
          <a:xfrm>
            <a:off x="857250" y="3911639"/>
            <a:ext cx="76200" cy="76200"/>
          </a:xfrm>
          <a:prstGeom prst="ellipse">
            <a:avLst/>
          </a:prstGeom>
          <a:solidFill>
            <a:srgbClr val="2B7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3A3D6B-64FF-4B9E-A134-B04BB2268FF4}"/>
              </a:ext>
            </a:extLst>
          </p:cNvPr>
          <p:cNvSpPr>
            <a:spLocks noGrp="1"/>
          </p:cNvSpPr>
          <p:nvPr/>
        </p:nvSpPr>
        <p:spPr>
          <a:xfrm>
            <a:off x="1039851" y="3834161"/>
            <a:ext cx="276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3243B"/>
                </a:solidFill>
              </a:defRPr>
            </a:pPr>
            <a:r>
              <a:rPr sz="1275" b="0" dirty="0">
                <a:solidFill>
                  <a:srgbClr val="13243B"/>
                </a:solidFill>
              </a:rPr>
              <a:t>More guided setup for new exercises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A7EF4DA-372D-4C66-A6B2-7E07365947EA}"/>
              </a:ext>
            </a:extLst>
          </p:cNvPr>
          <p:cNvSpPr>
            <a:spLocks noGrp="1"/>
          </p:cNvSpPr>
          <p:nvPr/>
        </p:nvSpPr>
        <p:spPr>
          <a:xfrm>
            <a:off x="4429125" y="2571750"/>
            <a:ext cx="3333750" cy="19812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AF881B-D407-47AF-ACD8-B95F82082939}"/>
              </a:ext>
            </a:extLst>
          </p:cNvPr>
          <p:cNvSpPr>
            <a:spLocks noGrp="1"/>
          </p:cNvSpPr>
          <p:nvPr/>
        </p:nvSpPr>
        <p:spPr>
          <a:xfrm>
            <a:off x="4429125" y="2571750"/>
            <a:ext cx="3333750" cy="76200"/>
          </a:xfrm>
          <a:prstGeom prst="rect">
            <a:avLst/>
          </a:prstGeom>
          <a:solidFill>
            <a:srgbClr val="1CB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FA9F21-D408-417E-BF4A-67CC1F02C837}"/>
              </a:ext>
            </a:extLst>
          </p:cNvPr>
          <p:cNvSpPr>
            <a:spLocks noGrp="1"/>
          </p:cNvSpPr>
          <p:nvPr/>
        </p:nvSpPr>
        <p:spPr>
          <a:xfrm>
            <a:off x="4619625" y="278130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Next expansion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046EC4-9039-46FB-B59B-A15F1692AA88}"/>
              </a:ext>
            </a:extLst>
          </p:cNvPr>
          <p:cNvSpPr>
            <a:spLocks noGrp="1"/>
          </p:cNvSpPr>
          <p:nvPr/>
        </p:nvSpPr>
        <p:spPr>
          <a:xfrm>
            <a:off x="4619625" y="304800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Strengthen planning depth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A595213-03F8-4B52-9655-C3F2A7125ABD}"/>
              </a:ext>
            </a:extLst>
          </p:cNvPr>
          <p:cNvSpPr>
            <a:spLocks noGrp="1"/>
          </p:cNvSpPr>
          <p:nvPr/>
        </p:nvSpPr>
        <p:spPr>
          <a:xfrm>
            <a:off x="4619625" y="3457575"/>
            <a:ext cx="76200" cy="76200"/>
          </a:xfrm>
          <a:prstGeom prst="ellipse">
            <a:avLst/>
          </a:prstGeom>
          <a:solidFill>
            <a:srgbClr val="2B7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268148-C457-4072-A2C1-382F8BEC76D1}"/>
              </a:ext>
            </a:extLst>
          </p:cNvPr>
          <p:cNvSpPr>
            <a:spLocks noGrp="1"/>
          </p:cNvSpPr>
          <p:nvPr/>
        </p:nvSpPr>
        <p:spPr>
          <a:xfrm>
            <a:off x="4810125" y="3390900"/>
            <a:ext cx="276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3243B"/>
                </a:solidFill>
              </a:defRPr>
            </a:pPr>
            <a:r>
              <a:rPr sz="1275" b="0">
                <a:solidFill>
                  <a:srgbClr val="13243B"/>
                </a:solidFill>
              </a:rPr>
              <a:t>Scenario versioning and side-by-side comparisons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AE8F6D1-1C05-4876-A456-4DEA945FA84C}"/>
              </a:ext>
            </a:extLst>
          </p:cNvPr>
          <p:cNvSpPr>
            <a:spLocks noGrp="1"/>
          </p:cNvSpPr>
          <p:nvPr/>
        </p:nvSpPr>
        <p:spPr>
          <a:xfrm>
            <a:off x="4619625" y="3914775"/>
            <a:ext cx="76200" cy="76200"/>
          </a:xfrm>
          <a:prstGeom prst="ellipse">
            <a:avLst/>
          </a:prstGeom>
          <a:solidFill>
            <a:srgbClr val="2B7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3AE261-4387-4BD9-BEFB-56D60AA63CA4}"/>
              </a:ext>
            </a:extLst>
          </p:cNvPr>
          <p:cNvSpPr>
            <a:spLocks noGrp="1"/>
          </p:cNvSpPr>
          <p:nvPr/>
        </p:nvSpPr>
        <p:spPr>
          <a:xfrm>
            <a:off x="4810125" y="3848100"/>
            <a:ext cx="276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3243B"/>
                </a:solidFill>
              </a:defRPr>
            </a:pPr>
            <a:r>
              <a:rPr sz="1275" b="0">
                <a:solidFill>
                  <a:srgbClr val="13243B"/>
                </a:solidFill>
              </a:rPr>
              <a:t>Exercise history and trend snapshots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72E5728-7CB9-4D4F-9DB7-63600F069204}"/>
              </a:ext>
            </a:extLst>
          </p:cNvPr>
          <p:cNvSpPr>
            <a:spLocks noGrp="1"/>
          </p:cNvSpPr>
          <p:nvPr/>
        </p:nvSpPr>
        <p:spPr>
          <a:xfrm>
            <a:off x="4619625" y="4255352"/>
            <a:ext cx="76200" cy="76200"/>
          </a:xfrm>
          <a:prstGeom prst="ellipse">
            <a:avLst/>
          </a:prstGeom>
          <a:solidFill>
            <a:srgbClr val="2B7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EB7080-48E6-4830-8E7B-6BF36AB08EF7}"/>
              </a:ext>
            </a:extLst>
          </p:cNvPr>
          <p:cNvSpPr>
            <a:spLocks noGrp="1"/>
          </p:cNvSpPr>
          <p:nvPr/>
        </p:nvSpPr>
        <p:spPr>
          <a:xfrm>
            <a:off x="4810125" y="4181475"/>
            <a:ext cx="276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3243B"/>
                </a:solidFill>
              </a:defRPr>
            </a:pPr>
            <a:r>
              <a:rPr sz="1275" b="0" dirty="0">
                <a:solidFill>
                  <a:srgbClr val="13243B"/>
                </a:solidFill>
              </a:rPr>
              <a:t>Portfolio view across multiple exercises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3A27AE7-5CD8-4B49-84A5-D6ABCA795576}"/>
              </a:ext>
            </a:extLst>
          </p:cNvPr>
          <p:cNvSpPr>
            <a:spLocks noGrp="1"/>
          </p:cNvSpPr>
          <p:nvPr/>
        </p:nvSpPr>
        <p:spPr>
          <a:xfrm>
            <a:off x="8191500" y="2552700"/>
            <a:ext cx="3333750" cy="19812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E639D5-79D8-401E-897F-245A61023875}"/>
              </a:ext>
            </a:extLst>
          </p:cNvPr>
          <p:cNvSpPr>
            <a:spLocks noGrp="1"/>
          </p:cNvSpPr>
          <p:nvPr/>
        </p:nvSpPr>
        <p:spPr>
          <a:xfrm>
            <a:off x="8191500" y="2571750"/>
            <a:ext cx="3333750" cy="76200"/>
          </a:xfrm>
          <a:prstGeom prst="rect">
            <a:avLst/>
          </a:prstGeom>
          <a:solidFill>
            <a:srgbClr val="F3B9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B01DB09-F6BB-4C59-8D5A-2536B1184926}"/>
              </a:ext>
            </a:extLst>
          </p:cNvPr>
          <p:cNvSpPr>
            <a:spLocks noGrp="1"/>
          </p:cNvSpPr>
          <p:nvPr/>
        </p:nvSpPr>
        <p:spPr>
          <a:xfrm>
            <a:off x="8382000" y="278130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Strategic potential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9C0B670-BF93-43C3-8E7C-1A074427BED1}"/>
              </a:ext>
            </a:extLst>
          </p:cNvPr>
          <p:cNvSpPr>
            <a:spLocks noGrp="1"/>
          </p:cNvSpPr>
          <p:nvPr/>
        </p:nvSpPr>
        <p:spPr>
          <a:xfrm>
            <a:off x="8382000" y="304800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Turn the tool into decision support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9DD4D5F-4C15-4A34-8DD2-C3995EECC062}"/>
              </a:ext>
            </a:extLst>
          </p:cNvPr>
          <p:cNvSpPr>
            <a:spLocks noGrp="1"/>
          </p:cNvSpPr>
          <p:nvPr/>
        </p:nvSpPr>
        <p:spPr>
          <a:xfrm>
            <a:off x="8382000" y="3457575"/>
            <a:ext cx="76200" cy="76200"/>
          </a:xfrm>
          <a:prstGeom prst="ellipse">
            <a:avLst/>
          </a:prstGeom>
          <a:solidFill>
            <a:srgbClr val="2B7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9EEB41-CD8E-4372-98F5-934A5D59F9AE}"/>
              </a:ext>
            </a:extLst>
          </p:cNvPr>
          <p:cNvSpPr>
            <a:spLocks noGrp="1"/>
          </p:cNvSpPr>
          <p:nvPr/>
        </p:nvSpPr>
        <p:spPr>
          <a:xfrm>
            <a:off x="8572500" y="3390900"/>
            <a:ext cx="276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3243B"/>
                </a:solidFill>
              </a:defRPr>
            </a:pPr>
            <a:r>
              <a:rPr sz="1275" b="0">
                <a:solidFill>
                  <a:srgbClr val="13243B"/>
                </a:solidFill>
              </a:rPr>
              <a:t>Forecasting for future budget posture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D17E68A-BD45-43DB-A536-3F29E6FAE905}"/>
              </a:ext>
            </a:extLst>
          </p:cNvPr>
          <p:cNvSpPr>
            <a:spLocks noGrp="1"/>
          </p:cNvSpPr>
          <p:nvPr/>
        </p:nvSpPr>
        <p:spPr>
          <a:xfrm>
            <a:off x="8382000" y="3829050"/>
            <a:ext cx="76200" cy="76200"/>
          </a:xfrm>
          <a:prstGeom prst="ellipse">
            <a:avLst/>
          </a:prstGeom>
          <a:solidFill>
            <a:srgbClr val="2B7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0FB93A9-812D-4D24-AB4D-87A2C7B78324}"/>
              </a:ext>
            </a:extLst>
          </p:cNvPr>
          <p:cNvSpPr>
            <a:spLocks noGrp="1"/>
          </p:cNvSpPr>
          <p:nvPr/>
        </p:nvSpPr>
        <p:spPr>
          <a:xfrm>
            <a:off x="8580399" y="3681413"/>
            <a:ext cx="276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3243B"/>
                </a:solidFill>
              </a:defRPr>
            </a:pPr>
            <a:r>
              <a:rPr sz="1275" b="0" dirty="0">
                <a:solidFill>
                  <a:srgbClr val="13243B"/>
                </a:solidFill>
              </a:rPr>
              <a:t>Recommendation support for staffing or travel changes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A8EA1E1-43DE-4EE5-B6C7-F5FE6BB92C01}"/>
              </a:ext>
            </a:extLst>
          </p:cNvPr>
          <p:cNvSpPr>
            <a:spLocks noGrp="1"/>
          </p:cNvSpPr>
          <p:nvPr/>
        </p:nvSpPr>
        <p:spPr>
          <a:xfrm>
            <a:off x="8382000" y="4301118"/>
            <a:ext cx="76200" cy="76200"/>
          </a:xfrm>
          <a:prstGeom prst="ellipse">
            <a:avLst/>
          </a:prstGeom>
          <a:solidFill>
            <a:srgbClr val="2B7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7B60234-9F98-48A1-8A5B-DFFC7186B510}"/>
              </a:ext>
            </a:extLst>
          </p:cNvPr>
          <p:cNvSpPr>
            <a:spLocks noGrp="1"/>
          </p:cNvSpPr>
          <p:nvPr/>
        </p:nvSpPr>
        <p:spPr>
          <a:xfrm>
            <a:off x="8580399" y="4133850"/>
            <a:ext cx="276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3243B"/>
                </a:solidFill>
              </a:defRPr>
            </a:pPr>
            <a:r>
              <a:rPr sz="1275" b="0" dirty="0">
                <a:solidFill>
                  <a:srgbClr val="13243B"/>
                </a:solidFill>
              </a:rPr>
              <a:t>Cross-functional planning beyond a single briefing cycle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D0B66B5-81C3-4EE3-9DC5-E16BF6B36BCC}"/>
              </a:ext>
            </a:extLst>
          </p:cNvPr>
          <p:cNvSpPr>
            <a:spLocks noGrp="1"/>
          </p:cNvSpPr>
          <p:nvPr/>
        </p:nvSpPr>
        <p:spPr>
          <a:xfrm>
            <a:off x="666750" y="5124450"/>
            <a:ext cx="10858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DA0664E-2E0A-49E9-80EA-D5C9AAD020F8}"/>
              </a:ext>
            </a:extLst>
          </p:cNvPr>
          <p:cNvSpPr>
            <a:spLocks noGrp="1"/>
          </p:cNvSpPr>
          <p:nvPr/>
        </p:nvSpPr>
        <p:spPr>
          <a:xfrm>
            <a:off x="914400" y="52959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B78FF"/>
                </a:solidFill>
              </a:defRPr>
            </a:pPr>
            <a:r>
              <a:rPr sz="975" b="1">
                <a:solidFill>
                  <a:srgbClr val="2B78FF"/>
                </a:solidFill>
              </a:rPr>
              <a:t>Potential future use cases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914BFF0-B97C-4AA0-B9DF-F36F86BB2D24}"/>
              </a:ext>
            </a:extLst>
          </p:cNvPr>
          <p:cNvSpPr>
            <a:spLocks noGrp="1"/>
          </p:cNvSpPr>
          <p:nvPr/>
        </p:nvSpPr>
        <p:spPr>
          <a:xfrm>
            <a:off x="2762250" y="5219700"/>
            <a:ext cx="1428750" cy="285750"/>
          </a:xfrm>
          <a:prstGeom prst="roundRect">
            <a:avLst>
              <a:gd name="adj" fmla="val 26667"/>
            </a:avLst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D58C6FA-D952-42E2-A31A-F1335AAC1055}"/>
              </a:ext>
            </a:extLst>
          </p:cNvPr>
          <p:cNvSpPr>
            <a:spLocks noGrp="1"/>
          </p:cNvSpPr>
          <p:nvPr/>
        </p:nvSpPr>
        <p:spPr>
          <a:xfrm>
            <a:off x="2895600" y="5286375"/>
            <a:ext cx="1162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Funding drills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21EA2F4-A93D-42C6-9F11-7E2A677170EC}"/>
              </a:ext>
            </a:extLst>
          </p:cNvPr>
          <p:cNvSpPr>
            <a:spLocks noGrp="1"/>
          </p:cNvSpPr>
          <p:nvPr/>
        </p:nvSpPr>
        <p:spPr>
          <a:xfrm>
            <a:off x="4343400" y="5219700"/>
            <a:ext cx="1733550" cy="285750"/>
          </a:xfrm>
          <a:prstGeom prst="roundRect">
            <a:avLst>
              <a:gd name="adj" fmla="val 26667"/>
            </a:avLst>
          </a:prstGeom>
          <a:solidFill>
            <a:srgbClr val="D9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8AD94EF-D3E5-473B-8CFC-11367D8A093B}"/>
              </a:ext>
            </a:extLst>
          </p:cNvPr>
          <p:cNvSpPr>
            <a:spLocks noGrp="1"/>
          </p:cNvSpPr>
          <p:nvPr/>
        </p:nvSpPr>
        <p:spPr>
          <a:xfrm>
            <a:off x="4476750" y="5286375"/>
            <a:ext cx="1466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Scenario rehearsal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6072EB2-6DFA-4B69-B499-209C6D140172}"/>
              </a:ext>
            </a:extLst>
          </p:cNvPr>
          <p:cNvSpPr>
            <a:spLocks noGrp="1"/>
          </p:cNvSpPr>
          <p:nvPr/>
        </p:nvSpPr>
        <p:spPr>
          <a:xfrm>
            <a:off x="6229350" y="5219700"/>
            <a:ext cx="1885950" cy="285750"/>
          </a:xfrm>
          <a:prstGeom prst="roundRect">
            <a:avLst>
              <a:gd name="adj" fmla="val 26667"/>
            </a:avLst>
          </a:prstGeom>
          <a:solidFill>
            <a:srgbClr val="FFF2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70BD58A-8B83-4497-897F-4FFC575D87DA}"/>
              </a:ext>
            </a:extLst>
          </p:cNvPr>
          <p:cNvSpPr>
            <a:spLocks noGrp="1"/>
          </p:cNvSpPr>
          <p:nvPr/>
        </p:nvSpPr>
        <p:spPr>
          <a:xfrm>
            <a:off x="6362700" y="5286375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After-action lessons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52383B4-BAB6-4E9E-9320-6CD9DC4EE96C}"/>
              </a:ext>
            </a:extLst>
          </p:cNvPr>
          <p:cNvSpPr>
            <a:spLocks noGrp="1"/>
          </p:cNvSpPr>
          <p:nvPr/>
        </p:nvSpPr>
        <p:spPr>
          <a:xfrm>
            <a:off x="8267700" y="5219700"/>
            <a:ext cx="1581150" cy="285750"/>
          </a:xfrm>
          <a:prstGeom prst="roundRect">
            <a:avLst>
              <a:gd name="adj" fmla="val 26667"/>
            </a:avLst>
          </a:prstGeom>
          <a:solidFill>
            <a:srgbClr val="E8EE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719B235-3EA0-4A1C-A879-1A416C48FCB8}"/>
              </a:ext>
            </a:extLst>
          </p:cNvPr>
          <p:cNvSpPr>
            <a:spLocks noGrp="1"/>
          </p:cNvSpPr>
          <p:nvPr/>
        </p:nvSpPr>
        <p:spPr>
          <a:xfrm>
            <a:off x="8401050" y="5286375"/>
            <a:ext cx="1314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Portfolio review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9DA3895-1AF2-40D2-9F4E-3F7408BC7196}"/>
              </a:ext>
            </a:extLst>
          </p:cNvPr>
          <p:cNvSpPr>
            <a:spLocks noGrp="1"/>
          </p:cNvSpPr>
          <p:nvPr/>
        </p:nvSpPr>
        <p:spPr>
          <a:xfrm>
            <a:off x="10001250" y="5219700"/>
            <a:ext cx="1581150" cy="285750"/>
          </a:xfrm>
          <a:prstGeom prst="roundRect">
            <a:avLst>
              <a:gd name="adj" fmla="val 26667"/>
            </a:avLst>
          </a:prstGeom>
          <a:solidFill>
            <a:srgbClr val="E4FB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9401A8E-9D5B-4FA8-9EFC-71878A588119}"/>
              </a:ext>
            </a:extLst>
          </p:cNvPr>
          <p:cNvSpPr>
            <a:spLocks noGrp="1"/>
          </p:cNvSpPr>
          <p:nvPr/>
        </p:nvSpPr>
        <p:spPr>
          <a:xfrm>
            <a:off x="10134600" y="5286375"/>
            <a:ext cx="1314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1862212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47A1D79-0965-48EA-A6B5-BD0A360E38AE}"/>
              </a:ext>
            </a:extLst>
          </p:cNvPr>
          <p:cNvSpPr>
            <a:spLocks noGrp="1"/>
          </p:cNvSpPr>
          <p:nvPr/>
        </p:nvSpPr>
        <p:spPr>
          <a:xfrm>
            <a:off x="-1047750" y="-762000"/>
            <a:ext cx="3429000" cy="3429000"/>
          </a:xfrm>
          <a:prstGeom prst="ellipse">
            <a:avLst/>
          </a:prstGeom>
          <a:solidFill>
            <a:srgbClr val="153A73">
              <a:alpha val="2509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F9B3964-6B37-46EE-8C05-7B7831A527F4}"/>
              </a:ext>
            </a:extLst>
          </p:cNvPr>
          <p:cNvSpPr>
            <a:spLocks noGrp="1"/>
          </p:cNvSpPr>
          <p:nvPr/>
        </p:nvSpPr>
        <p:spPr>
          <a:xfrm>
            <a:off x="9620250" y="-1143000"/>
            <a:ext cx="3143250" cy="3143250"/>
          </a:xfrm>
          <a:prstGeom prst="ellipse">
            <a:avLst/>
          </a:prstGeom>
          <a:solidFill>
            <a:srgbClr val="1CB7A6">
              <a:alpha val="18824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AE6DBFE-9A4D-4BD7-8602-F9C61DA93C49}"/>
              </a:ext>
            </a:extLst>
          </p:cNvPr>
          <p:cNvSpPr>
            <a:spLocks noGrp="1"/>
          </p:cNvSpPr>
          <p:nvPr/>
        </p:nvSpPr>
        <p:spPr>
          <a:xfrm>
            <a:off x="9334500" y="4857750"/>
            <a:ext cx="3619500" cy="3619500"/>
          </a:xfrm>
          <a:prstGeom prst="ellipse">
            <a:avLst/>
          </a:prstGeom>
          <a:solidFill>
            <a:srgbClr val="2B78FF">
              <a:alpha val="1254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72980E-26A2-4F79-BA4D-BCCA9777777C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CB7A6"/>
                </a:solidFill>
              </a:defRPr>
            </a:pPr>
            <a:r>
              <a:rPr sz="900" b="1">
                <a:solidFill>
                  <a:srgbClr val="1CB7A6"/>
                </a:solidFill>
              </a:rPr>
              <a:t>CLOSING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6C2916-77E4-4B50-8B7A-77C1DE727351}"/>
              </a:ext>
            </a:extLst>
          </p:cNvPr>
          <p:cNvSpPr>
            <a:spLocks noGrp="1"/>
          </p:cNvSpPr>
          <p:nvPr/>
        </p:nvSpPr>
        <p:spPr>
          <a:xfrm>
            <a:off x="10287000" y="3810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CB7A6"/>
                </a:solidFill>
              </a:defRPr>
            </a:pPr>
            <a:r>
              <a:rPr sz="900" b="1">
                <a:solidFill>
                  <a:srgbClr val="1CB7A6"/>
                </a:solidFill>
              </a:rPr>
              <a:t>08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92FB6A-5796-41F4-9F55-8D3D08FC1AEC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65722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What This Enables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873A6F-A16D-45F6-9CD1-8A7C9A653F41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477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Faster planning cycles. Cleaner leadership briefings. More confidence in the numbers.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8309E8-B301-4B0D-867A-FEE84852440F}"/>
              </a:ext>
            </a:extLst>
          </p:cNvPr>
          <p:cNvSpPr>
            <a:spLocks noGrp="1"/>
          </p:cNvSpPr>
          <p:nvPr/>
        </p:nvSpPr>
        <p:spPr>
          <a:xfrm>
            <a:off x="666750" y="2667000"/>
            <a:ext cx="3352800" cy="1295400"/>
          </a:xfrm>
          <a:prstGeom prst="roundRect">
            <a:avLst>
              <a:gd name="adj" fmla="val 5882"/>
            </a:avLst>
          </a:prstGeom>
          <a:solidFill>
            <a:srgbClr val="11284B"/>
          </a:solidFill>
          <a:ln w="11430">
            <a:solidFill>
              <a:srgbClr val="2A4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CCA6372-B847-4427-967F-EC1FD806C8A5}"/>
              </a:ext>
            </a:extLst>
          </p:cNvPr>
          <p:cNvSpPr>
            <a:spLocks noGrp="1"/>
          </p:cNvSpPr>
          <p:nvPr/>
        </p:nvSpPr>
        <p:spPr>
          <a:xfrm>
            <a:off x="876300" y="2857500"/>
            <a:ext cx="400050" cy="400050"/>
          </a:xfrm>
          <a:prstGeom prst="ellipse">
            <a:avLst/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2AE46E-0F50-457B-B6AF-FFA5C1D66419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B1830"/>
                </a:solidFill>
              </a:defRPr>
            </a:pPr>
            <a:r>
              <a:rPr sz="1050" b="1">
                <a:solidFill>
                  <a:srgbClr val="0B1830"/>
                </a:solidFill>
              </a:rPr>
              <a:t>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8DB5E0-CFA1-47DC-BAEC-DE8016CC6E0C}"/>
              </a:ext>
            </a:extLst>
          </p:cNvPr>
          <p:cNvSpPr>
            <a:spLocks noGrp="1"/>
          </p:cNvSpPr>
          <p:nvPr/>
        </p:nvSpPr>
        <p:spPr>
          <a:xfrm>
            <a:off x="1409700" y="2857500"/>
            <a:ext cx="2438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Faster decisions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788AFB-DA07-4872-A0E9-C189E07F2D5B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2895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8E2F0"/>
                </a:solidFill>
              </a:defRPr>
            </a:pPr>
            <a:r>
              <a:rPr sz="1125" b="0">
                <a:solidFill>
                  <a:srgbClr val="D8E2F0"/>
                </a:solidFill>
              </a:rPr>
              <a:t>Leaders can ask 'what if' questions and get an updated answer without a workbook rebuild.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0B92977-E762-4180-8377-9F338157F5D0}"/>
              </a:ext>
            </a:extLst>
          </p:cNvPr>
          <p:cNvSpPr>
            <a:spLocks noGrp="1"/>
          </p:cNvSpPr>
          <p:nvPr/>
        </p:nvSpPr>
        <p:spPr>
          <a:xfrm>
            <a:off x="4419600" y="2667000"/>
            <a:ext cx="3352800" cy="1295400"/>
          </a:xfrm>
          <a:prstGeom prst="roundRect">
            <a:avLst>
              <a:gd name="adj" fmla="val 5882"/>
            </a:avLst>
          </a:prstGeom>
          <a:solidFill>
            <a:srgbClr val="11284B"/>
          </a:solidFill>
          <a:ln w="11430">
            <a:solidFill>
              <a:srgbClr val="2A4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A5B1893-B8BB-4DD5-A84E-779BB8F14D37}"/>
              </a:ext>
            </a:extLst>
          </p:cNvPr>
          <p:cNvSpPr>
            <a:spLocks noGrp="1"/>
          </p:cNvSpPr>
          <p:nvPr/>
        </p:nvSpPr>
        <p:spPr>
          <a:xfrm>
            <a:off x="4629150" y="2857500"/>
            <a:ext cx="400050" cy="400050"/>
          </a:xfrm>
          <a:prstGeom prst="ellipse">
            <a:avLst/>
          </a:prstGeom>
          <a:solidFill>
            <a:srgbClr val="D9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189D32-9EBB-4F6D-9716-41E916A3C97C}"/>
              </a:ext>
            </a:extLst>
          </p:cNvPr>
          <p:cNvSpPr>
            <a:spLocks noGrp="1"/>
          </p:cNvSpPr>
          <p:nvPr/>
        </p:nvSpPr>
        <p:spPr>
          <a:xfrm>
            <a:off x="4743450" y="29337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B1830"/>
                </a:solidFill>
              </a:defRPr>
            </a:pPr>
            <a:r>
              <a:rPr sz="1050" b="1">
                <a:solidFill>
                  <a:srgbClr val="0B1830"/>
                </a:solidFill>
              </a:rPr>
              <a:t>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F5994C-99E0-4B67-8EB5-0164AAE13D92}"/>
              </a:ext>
            </a:extLst>
          </p:cNvPr>
          <p:cNvSpPr>
            <a:spLocks noGrp="1"/>
          </p:cNvSpPr>
          <p:nvPr/>
        </p:nvSpPr>
        <p:spPr>
          <a:xfrm>
            <a:off x="5162550" y="2857500"/>
            <a:ext cx="2438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More defensible briefs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4A8CCA-C8D8-4F86-BB6D-48AA0C3F88F4}"/>
              </a:ext>
            </a:extLst>
          </p:cNvPr>
          <p:cNvSpPr>
            <a:spLocks noGrp="1"/>
          </p:cNvSpPr>
          <p:nvPr/>
        </p:nvSpPr>
        <p:spPr>
          <a:xfrm>
            <a:off x="4648200" y="3314700"/>
            <a:ext cx="2895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8E2F0"/>
                </a:solidFill>
              </a:defRPr>
            </a:pPr>
            <a:r>
              <a:rPr sz="1125" b="0">
                <a:solidFill>
                  <a:srgbClr val="D8E2F0"/>
                </a:solidFill>
              </a:rPr>
              <a:t>Every total ties back to structured unit inputs, rate assumptions, and repeatable logic.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7F2F699-27D0-48DB-A778-3931C38C5603}"/>
              </a:ext>
            </a:extLst>
          </p:cNvPr>
          <p:cNvSpPr>
            <a:spLocks noGrp="1"/>
          </p:cNvSpPr>
          <p:nvPr/>
        </p:nvSpPr>
        <p:spPr>
          <a:xfrm>
            <a:off x="8172450" y="2667000"/>
            <a:ext cx="3352800" cy="1295400"/>
          </a:xfrm>
          <a:prstGeom prst="roundRect">
            <a:avLst>
              <a:gd name="adj" fmla="val 5882"/>
            </a:avLst>
          </a:prstGeom>
          <a:solidFill>
            <a:srgbClr val="11284B"/>
          </a:solidFill>
          <a:ln w="11430">
            <a:solidFill>
              <a:srgbClr val="2A4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D5B0806-638D-45AF-B5BC-2030745EB725}"/>
              </a:ext>
            </a:extLst>
          </p:cNvPr>
          <p:cNvSpPr>
            <a:spLocks noGrp="1"/>
          </p:cNvSpPr>
          <p:nvPr/>
        </p:nvSpPr>
        <p:spPr>
          <a:xfrm>
            <a:off x="8382000" y="2857500"/>
            <a:ext cx="400050" cy="400050"/>
          </a:xfrm>
          <a:prstGeom prst="ellipse">
            <a:avLst/>
          </a:prstGeom>
          <a:solidFill>
            <a:srgbClr val="FFF2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0FF6D0-2F2B-46A9-8ED7-DCF05E7E7E25}"/>
              </a:ext>
            </a:extLst>
          </p:cNvPr>
          <p:cNvSpPr>
            <a:spLocks noGrp="1"/>
          </p:cNvSpPr>
          <p:nvPr/>
        </p:nvSpPr>
        <p:spPr>
          <a:xfrm>
            <a:off x="8496300" y="29337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B1830"/>
                </a:solidFill>
              </a:defRPr>
            </a:pPr>
            <a:r>
              <a:rPr sz="1050" b="1">
                <a:solidFill>
                  <a:srgbClr val="0B1830"/>
                </a:solidFill>
              </a:rPr>
              <a:t>03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B8F9C3-9F96-4F4C-99B3-CE44FBE4C5D4}"/>
              </a:ext>
            </a:extLst>
          </p:cNvPr>
          <p:cNvSpPr>
            <a:spLocks noGrp="1"/>
          </p:cNvSpPr>
          <p:nvPr/>
        </p:nvSpPr>
        <p:spPr>
          <a:xfrm>
            <a:off x="8915400" y="2857500"/>
            <a:ext cx="2438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Better continuity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12FFA4-7A06-45E3-A502-3F2083C4C02D}"/>
              </a:ext>
            </a:extLst>
          </p:cNvPr>
          <p:cNvSpPr>
            <a:spLocks noGrp="1"/>
          </p:cNvSpPr>
          <p:nvPr/>
        </p:nvSpPr>
        <p:spPr>
          <a:xfrm>
            <a:off x="8401050" y="3314700"/>
            <a:ext cx="2895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8E2F0"/>
                </a:solidFill>
              </a:defRPr>
            </a:pPr>
            <a:r>
              <a:rPr sz="1125" b="0">
                <a:solidFill>
                  <a:srgbClr val="D8E2F0"/>
                </a:solidFill>
              </a:rPr>
              <a:t>Refinements, exports, clear actions, and undo reduce rework across the full preparation cycle.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208B54D-404E-4ABC-920B-71E1F37C64C5}"/>
              </a:ext>
            </a:extLst>
          </p:cNvPr>
          <p:cNvSpPr>
            <a:spLocks noGrp="1"/>
          </p:cNvSpPr>
          <p:nvPr/>
        </p:nvSpPr>
        <p:spPr>
          <a:xfrm>
            <a:off x="666750" y="5715000"/>
            <a:ext cx="10858500" cy="628650"/>
          </a:xfrm>
          <a:prstGeom prst="roundRect">
            <a:avLst>
              <a:gd name="adj" fmla="val 12121"/>
            </a:avLst>
          </a:prstGeom>
          <a:solidFill>
            <a:srgbClr val="11284B"/>
          </a:solidFill>
          <a:ln w="10478">
            <a:solidFill>
              <a:srgbClr val="29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3A1D75-03EF-4CA8-AB9D-B9C180125FEB}"/>
              </a:ext>
            </a:extLst>
          </p:cNvPr>
          <p:cNvSpPr>
            <a:spLocks noGrp="1"/>
          </p:cNvSpPr>
          <p:nvPr/>
        </p:nvSpPr>
        <p:spPr>
          <a:xfrm>
            <a:off x="933450" y="5915025"/>
            <a:ext cx="10325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Patriot Medic is already a stronger planning surface than a spreadsheet and is positioned to grow into a broader decision-support platform.</a:t>
            </a:r>
          </a:p>
        </p:txBody>
      </p:sp>
    </p:spTree>
    <p:extLst>
      <p:ext uri="{BB962C8B-B14F-4D97-AF65-F5344CB8AC3E}">
        <p14:creationId xmlns:p14="http://schemas.microsoft.com/office/powerpoint/2010/main" val="1886812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BC3F3-82FA-9E84-242F-A2A6F37456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241696"/>
          </a:xfrm>
        </p:spPr>
        <p:txBody>
          <a:bodyPr/>
          <a:lstStyle/>
          <a:p>
            <a:r>
              <a:rPr lang="en-US" dirty="0" err="1"/>
              <a:t>Misc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92F306-15B1-92D2-DF8E-DA57C3528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951" y="1823419"/>
            <a:ext cx="9144000" cy="1655762"/>
          </a:xfrm>
        </p:spPr>
        <p:txBody>
          <a:bodyPr/>
          <a:lstStyle/>
          <a:p>
            <a:pPr marL="342900" indent="-342900" algn="l">
              <a:buFontTx/>
              <a:buChar char="-"/>
            </a:pPr>
            <a:r>
              <a:rPr lang="en-US" dirty="0"/>
              <a:t>When quick changes to PAX occurs, it doesn’t just affect the RPA/AT $’s. It has trickle effects to sustainment (MREs, lodging, DTTs/white cell needed,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342900" indent="-342900" algn="l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01139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1215</Words>
  <Application>Microsoft Office PowerPoint</Application>
  <DocSecurity>0</DocSecurity>
  <PresentationFormat>Widescreen</PresentationFormat>
  <Paragraphs>163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Misc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Cullen Henderson</cp:lastModifiedBy>
  <cp:revision>1</cp:revision>
  <dcterms:created xsi:type="dcterms:W3CDTF">2026-04-23T23:06:02Z</dcterms:created>
  <dcterms:modified xsi:type="dcterms:W3CDTF">2026-04-24T01:14:25Z</dcterms:modified>
</cp:coreProperties>
</file>