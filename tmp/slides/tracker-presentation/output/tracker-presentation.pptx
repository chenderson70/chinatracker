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1f0a41d134417" /><Relationship Type="http://schemas.openxmlformats.org/officeDocument/2006/relationships/extended-properties" Target="/docProps/app.xml" Id="R824ac6b1ea944d7d" /><Relationship Type="http://schemas.openxmlformats.org/officeDocument/2006/relationships/officeDocument" Target="/ppt/presentation.xml" Id="Rb45a340fad9540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8fd2b0e4c44c0"/>
  </p:sldMasterIdLst>
  <p:notesMasterIdLst>
    <p:notesMasterId xmlns:r="http://schemas.openxmlformats.org/officeDocument/2006/relationships" r:id="R1d283c21ebf24bed"/>
  </p:notesMasterIdLst>
  <p:sldIdLst>
    <p:sldId xmlns:r="http://schemas.openxmlformats.org/officeDocument/2006/relationships" id="256" r:id="R2c9b6953154a4f50"/>
    <p:sldId xmlns:r="http://schemas.openxmlformats.org/officeDocument/2006/relationships" id="257" r:id="Re19595b2a3c34f85"/>
    <p:sldId xmlns:r="http://schemas.openxmlformats.org/officeDocument/2006/relationships" id="258" r:id="Raadcf081d6484396"/>
    <p:sldId xmlns:r="http://schemas.openxmlformats.org/officeDocument/2006/relationships" id="259" r:id="R70f5e672244344d5"/>
    <p:sldId xmlns:r="http://schemas.openxmlformats.org/officeDocument/2006/relationships" id="260" r:id="R27b4e7c01b7d4a74"/>
    <p:sldId xmlns:r="http://schemas.openxmlformats.org/officeDocument/2006/relationships" id="261" r:id="R7e22588a1e9e4bc0"/>
    <p:sldId xmlns:r="http://schemas.openxmlformats.org/officeDocument/2006/relationships" id="262" r:id="R2d37999ed0e84b3b"/>
    <p:sldId xmlns:r="http://schemas.openxmlformats.org/officeDocument/2006/relationships" id="263" r:id="R2b425b4e4d374e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8fd2b0e4c44c0" /><Relationship Type="http://schemas.openxmlformats.org/officeDocument/2006/relationships/theme" Target="/ppt/theme/theme1.xml" Id="Rf32925c972d64d36" /><Relationship Type="http://schemas.openxmlformats.org/officeDocument/2006/relationships/notesMaster" Target="/ppt/notesMasters/notesMaster1.xml" Id="R1d283c21ebf24bed" /><Relationship Type="http://schemas.openxmlformats.org/officeDocument/2006/relationships/presProps" Target="/ppt/presProps.xml" Id="Rd963218a5f67432f" /><Relationship Type="http://schemas.openxmlformats.org/officeDocument/2006/relationships/viewProps" Target="/ppt/viewProps.xml" Id="R82e3ee237edd460a" /><Relationship Type="http://schemas.openxmlformats.org/officeDocument/2006/relationships/tableStyles" Target="/ppt/tableStyles.xml" Id="Rb35858f7656b49bb" /><Relationship Type="http://schemas.openxmlformats.org/officeDocument/2006/relationships/slide" Target="/ppt/slides/slide1.xml" Id="R2c9b6953154a4f50" /><Relationship Type="http://schemas.openxmlformats.org/officeDocument/2006/relationships/slide" Target="/ppt/slides/slide2.xml" Id="Re19595b2a3c34f85" /><Relationship Type="http://schemas.openxmlformats.org/officeDocument/2006/relationships/slide" Target="/ppt/slides/slide3.xml" Id="Raadcf081d6484396" /><Relationship Type="http://schemas.openxmlformats.org/officeDocument/2006/relationships/slide" Target="/ppt/slides/slide4.xml" Id="R70f5e672244344d5" /><Relationship Type="http://schemas.openxmlformats.org/officeDocument/2006/relationships/slide" Target="/ppt/slides/slide5.xml" Id="R27b4e7c01b7d4a74" /><Relationship Type="http://schemas.openxmlformats.org/officeDocument/2006/relationships/slide" Target="/ppt/slides/slide6.xml" Id="R7e22588a1e9e4bc0" /><Relationship Type="http://schemas.openxmlformats.org/officeDocument/2006/relationships/slide" Target="/ppt/slides/slide7.xml" Id="R2d37999ed0e84b3b" /><Relationship Type="http://schemas.openxmlformats.org/officeDocument/2006/relationships/slide" Target="/ppt/slides/slide8.xml" Id="R2b425b4e4d374e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be6fef9a0c47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0c8bdde1da48d8" /><Relationship Type="http://schemas.openxmlformats.org/officeDocument/2006/relationships/notesMaster" Target="/ppt/notesMasters/notesMaster1.xml" Id="R595ed8eefdb74d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2312fc37424597" /><Relationship Type="http://schemas.openxmlformats.org/officeDocument/2006/relationships/notesMaster" Target="/ppt/notesMasters/notesMaster1.xml" Id="Rc49c8578550d44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d72bccaaf449e9" /><Relationship Type="http://schemas.openxmlformats.org/officeDocument/2006/relationships/notesMaster" Target="/ppt/notesMasters/notesMaster1.xml" Id="R635b65b727614c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8201f30174ce1" /><Relationship Type="http://schemas.openxmlformats.org/officeDocument/2006/relationships/notesMaster" Target="/ppt/notesMasters/notesMaster1.xml" Id="Rabba2ec277044c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06cee6d994613" /><Relationship Type="http://schemas.openxmlformats.org/officeDocument/2006/relationships/notesMaster" Target="/ppt/notesMasters/notesMaster1.xml" Id="R139410a89b6145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c613217a134418" /><Relationship Type="http://schemas.openxmlformats.org/officeDocument/2006/relationships/notesMaster" Target="/ppt/notesMasters/notesMaster1.xml" Id="R83d27c62460241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6532bafd334034" /><Relationship Type="http://schemas.openxmlformats.org/officeDocument/2006/relationships/notesMaster" Target="/ppt/notesMasters/notesMaster1.xml" Id="R28eba47b549249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0d1e525d3045cc" /><Relationship Type="http://schemas.openxmlformats.org/officeDocument/2006/relationships/notesMaster" Target="/ppt/notesMasters/notesMaster1.xml" Id="R61c457e19db941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mission: this is the transition from spreadsheet budgeting to a live, briefing-ready planning surface. Briefly point to the three screenshots as proof the product already spans executive view, unit planning, and reporting.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USER_GUIDE.md</a:t>
            </a:r>
          </a:p>
          <a:p xmlns:a="http://schemas.openxmlformats.org/drawingml/2006/main">
            <a:r>
              <a:t>- ChinaTracker_PRD_v2.md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five steps from left to right. Emphasize that the app follows the planning rhythm users already know, but the rollups and calculations happen automatically in the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USER_GUIDE.md</a:t>
            </a:r>
          </a:p>
          <a:p xmlns:a="http://schemas.openxmlformats.org/drawingml/2006/main">
            <a:r>
              <a:t>- ChinaTracker_PRD_v2.md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leadership-focused. The message is not that Excel is bad; it is that spreadsheets become fragile when the audience expects shared logic, speed, and a defensible briefing trail.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USER_GUIDE.md</a:t>
            </a:r>
          </a:p>
          <a:p xmlns:a="http://schemas.openxmlformats.org/drawingml/2006/main">
            <a:r>
              <a:t>- ChinaTracker_PRD_v2.md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summarize what matters operationally: real-time totals, structured unit inputs, reporting, refinements, and safety controls like clear actions and 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USER_GUIDE.md</a:t>
            </a:r>
          </a:p>
          <a:p xmlns:a="http://schemas.openxmlformats.org/drawingml/2006/main">
            <a:r>
              <a:t>- ChinaTracker_PRD_v2.md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During the live portion, show how leadership can read total cost, funding split, unit table, and visual charts from one screen. This is the fastest way to orient a 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USER_GUIDE.md</a:t>
            </a:r>
          </a:p>
          <a:p xmlns:a="http://schemas.openxmlformats.org/drawingml/2006/main">
            <a:r>
              <a:t>- ChinaTracker_PRD_v2.md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that the same data model supports detailed unit planning and polished reporting. It also highlights that follow-up work can now be tracked inside the tool instead of on side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USER_GUIDE.md</a:t>
            </a:r>
          </a:p>
          <a:p xmlns:a="http://schemas.openxmlformats.org/drawingml/2006/main">
            <a:r>
              <a:t>- ChinaTracker_PRD_v2.md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roadmap as realistic extensions of the current foundation: approvals, scenario management, portfolio visibility, and decision support. The point is that the current app can grow into a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USER_GUIDE.md</a:t>
            </a:r>
          </a:p>
          <a:p xmlns:a="http://schemas.openxmlformats.org/drawingml/2006/main">
            <a:r>
              <a:t>- ChinaTracker_PRD_v2.md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outcomes: faster decisions, better traceability, and cleaner leadership briefings. This should leave the audience with confidence that the app is useful now and expandable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USER_GUIDE.md</a:t>
            </a:r>
          </a:p>
          <a:p xmlns:a="http://schemas.openxmlformats.org/drawingml/2006/main">
            <a:r>
              <a:t>- ChinaTracker_PRD_v2.md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de46d7af243d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8948DA79-F307-4B95-A982-020BB33FDC7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42D3C55-7DE3-4ACC-BA16-CF93554845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A234C5-CFB1-4EE2-A115-2FA2A78B0B3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1C22DF-DC7F-4C8E-A666-8D3E6C2AF70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d39ce5b600f4852" /><Relationship Type="http://schemas.openxmlformats.org/officeDocument/2006/relationships/slideLayout" Target="/ppt/slideLayouts/slideLayout2.xml" Id="R84f04f68783946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01335B-AC42-4932-BE8A-AAA835595CE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f04f68783946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ba2018d714f66" /><Relationship Type="http://schemas.openxmlformats.org/officeDocument/2006/relationships/image" Target="/ppt/media/image.png" Id="R909193b535cd4056" /><Relationship Type="http://schemas.openxmlformats.org/officeDocument/2006/relationships/image" Target="/ppt/media/image2.png" Id="R140a4682da9a4265" /><Relationship Type="http://schemas.openxmlformats.org/officeDocument/2006/relationships/image" Target="/ppt/media/image3.png" Id="R0e22157e3cda4eda" /><Relationship Type="http://schemas.openxmlformats.org/officeDocument/2006/relationships/notesSlide" Target="/ppt/notesSlides/notesSlide1.xml" Id="R8da6b16ddfef4d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5e6c303ac44abe" /><Relationship Type="http://schemas.openxmlformats.org/officeDocument/2006/relationships/notesSlide" Target="/ppt/notesSlides/notesSlide2.xml" Id="R1017ba31cd5a47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205074abc4fae" /><Relationship Type="http://schemas.openxmlformats.org/officeDocument/2006/relationships/notesSlide" Target="/ppt/notesSlides/notesSlide3.xml" Id="Reda20b162b024b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ab5c5b370d43bc" /><Relationship Type="http://schemas.openxmlformats.org/officeDocument/2006/relationships/notesSlide" Target="/ppt/notesSlides/notesSlide4.xml" Id="R8bed1c62000b45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eff5668ec644a7" /><Relationship Type="http://schemas.openxmlformats.org/officeDocument/2006/relationships/image" Target="/ppt/media/image4.png" Id="R967d0c0bb4cf4c1e" /><Relationship Type="http://schemas.openxmlformats.org/officeDocument/2006/relationships/notesSlide" Target="/ppt/notesSlides/notesSlide5.xml" Id="Ra68da4da297944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d83d9b740448c8" /><Relationship Type="http://schemas.openxmlformats.org/officeDocument/2006/relationships/image" Target="/ppt/media/image5.png" Id="Rf7a333488e8d41f5" /><Relationship Type="http://schemas.openxmlformats.org/officeDocument/2006/relationships/image" Target="/ppt/media/image6.png" Id="R6fab6f714dc84a23" /><Relationship Type="http://schemas.openxmlformats.org/officeDocument/2006/relationships/image" Target="/ppt/media/image7.png" Id="R0789fa53c86e4f99" /><Relationship Type="http://schemas.openxmlformats.org/officeDocument/2006/relationships/notesSlide" Target="/ppt/notesSlides/notesSlide6.xml" Id="R25e1a83251254a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9814606a24495" /><Relationship Type="http://schemas.openxmlformats.org/officeDocument/2006/relationships/notesSlide" Target="/ppt/notesSlides/notesSlide7.xml" Id="R93119f14c28045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41c5b5d1634744" /><Relationship Type="http://schemas.openxmlformats.org/officeDocument/2006/relationships/notesSlide" Target="/ppt/notesSlides/notesSlide8.xml" Id="R21a55fc8f5fd47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D8AB0-36CF-4551-AD4A-E0566F1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73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F5977-5F33-4D78-AABB-9375EDF5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B7A6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48279-4D0C-4D0D-A18E-EF26DFBA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E5EF1-7E4C-49C5-9953-C17CFA57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11430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CCB92-B8E9-42EC-AF10-C8556DE4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EXECUTIVE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2989E-1DE8-4C99-848B-DBF90391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01 / 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19DF7-B71B-4BF6-B31B-F31E9DEA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7A2EA-7956-4320-8392-320FEF6F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29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PATRIOT MEDIC | CHINA TRACKER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2EB5A-5B5A-4949-9363-3DD2C1E0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Exercise Budget Planning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Without Excel Fragility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EDC09-DD1A-408E-BE39-DDEF73E4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China Tracker turns unit inputs, rate tables, and reporting requirements into one live planning picture that leadership can trust.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AFC0A-5CB8-4CF1-B0F3-780EDBBB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6482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284B"/>
          </a:solidFill>
          <a:ln xmlns:a="http://schemas.openxmlformats.org/drawingml/2006/main" w="11430">
            <a:solidFill>
              <a:srgbClr val="2A4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F9ED4-0629-4856-B16D-6E70D108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E95F8-3786-4D44-AE3A-02F712B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0F33D-A20B-4DBF-9EBD-AC0A7406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24300"/>
            <a:ext cx="3733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matters 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6942A-6E58-47BE-8E29-1F78987A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The application already replaces disconnected workbook logic with a single web-based planning surface that updates immediately.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922D1-8A96-41EB-B63B-9BF965EE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84285-FAF1-4526-A96B-3BE3D298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REAL-TIME TOTALS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906C9-6113-4EAB-828A-FE4C1B7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95900"/>
            <a:ext cx="14668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D9C0D-2DC7-4E48-B8DD-DF025A6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625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AUDIT-FRIENDLY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1E4211-CE86-4B77-B303-0DCF7922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9590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A32BE-B9D1-4B7C-9631-8106A8CC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625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EXPORT-READY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968B6-EC13-4060-99ED-29555B0E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33450"/>
            <a:ext cx="53340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B1830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71CD3-3226-4CA0-AB0D-0F33755D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53340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7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593169-5E6E-4645-8D39-65A976EA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933450"/>
            <a:ext cx="5029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5F911-A2A4-485C-B204-9FD772B1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1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00E02-257D-4147-906D-2A39D53C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1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29613-3EDF-4EBE-ACD0-4FFCC567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01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193b535cd4056"/>
          <a:stretch xmlns:a="http://schemas.openxmlformats.org/drawingml/2006/main"/>
        </p:blipFill>
        <p:spPr>
          <a:xfrm xmlns:a="http://schemas.openxmlformats.org/drawingml/2006/main">
            <a:off x="7317317" y="1295400"/>
            <a:ext cx="3081867" cy="17335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668F7E-0185-4A74-BFB0-C4D8B422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4B4F54-EEA4-446E-B4CE-0B48258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03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4E6704-D4D4-4C6F-837A-0E9AFE9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34290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0B1830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A0A9DE-C9EA-4FC1-8305-8F97536C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34290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7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22BAC-041E-4E37-AC94-9D9AD8A7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3124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6E9AB5-A394-4A68-B7E8-46A72576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C6E5F7-DDBD-430E-B57D-BA307EB9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8F488-792F-46D5-9215-090B321C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33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a4682da9a4265"/>
          <a:stretch xmlns:a="http://schemas.openxmlformats.org/drawingml/2006/main"/>
        </p:blipFill>
        <p:spPr>
          <a:xfrm xmlns:a="http://schemas.openxmlformats.org/drawingml/2006/main">
            <a:off x="6076950" y="3418284"/>
            <a:ext cx="3086100" cy="1735931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7844BF-BE44-46F1-B222-AA52510B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73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997A5C-9EFB-4272-A7A9-9780FFF0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339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Unit 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777268-1149-43EF-BBB5-7900531A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09950"/>
            <a:ext cx="25336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B1830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0743B3-C34C-422E-ACEA-5EC03694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25336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7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2668C5-AA12-4F22-BCF7-C28C0864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228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9FE5E1-1E1A-4E6D-8DC7-271A781B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94558F-FDC0-4D32-88E3-CAA80BDB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8CFD41-1777-4F53-9A5D-2E44C2DB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2157e3cda4eda"/>
          <a:stretch xmlns:a="http://schemas.openxmlformats.org/drawingml/2006/main"/>
        </p:blipFill>
        <p:spPr>
          <a:xfrm xmlns:a="http://schemas.openxmlformats.org/drawingml/2006/main">
            <a:off x="9310158" y="3771900"/>
            <a:ext cx="1896533" cy="10668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1A3301-8DD4-4A8B-8134-B8D98D0E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434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0D4A45-F67A-49EA-8FD3-F57C57C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1012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65317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9723C-A62F-44A3-9B4F-3D40F6B4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75BF6-18FA-4A43-AFF4-00E52ABB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857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3F82B-A776-4D5B-85C5-CE889DDF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926AE-7715-4778-B59A-A84944D3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HOW THE APP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5BBD6-13EF-4773-8147-D8D4E2C0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02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759EB-0A41-4547-A378-A04A3ECB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How the App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C53DB-DBD5-46A5-A3BC-AB36FB60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workflow mirrors how planners already think, but the calculations and rollups happen automatically.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8BDAC-50A9-47D9-B630-D2C8C28E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352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7BF0D-2C6B-47C0-92A7-50C57061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76139-4F26-4AF7-8350-1666FE8F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17250-68F7-459C-8BEA-6B8A3BB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Create or select an exercise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E84CE-C76C-4A58-8C91-00FFE995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Set the exercise name, date range, and default duty day assumptions once at the top.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945C4-B5EB-4E97-891B-594F3D4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352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138D1-F3B5-42A5-AE9D-680572D7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3D3D0-5426-4218-A87A-5C6C5E4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52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062B8-7491-429F-8508-FAACA282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Configure rates and targets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3511D-7CBA-431F-8ED0-F1CF8B23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Adjust CPD, per diem, travel, meal, and budget target assumptions in one controlled location.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AFDC6-07FE-4B7E-8DF8-B07C21D3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19400"/>
            <a:ext cx="3352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D74C4-BC8E-45DC-84D9-43682127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6E1E3-E32B-448D-A2D3-28B7D6EA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2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C3978-C21F-450E-BEF7-B662151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Build each unit page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48CCF-48E4-4837-9514-71C2DFC8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Enter PAX, locations, duty days, and detailed planning or execution inputs for each unit.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0052D-4DE8-4339-BD57-CEBD3BDC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5181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D780E-C040-4F19-AFE8-38266195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4E315-8452-414C-8503-D8A061E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A76A7-EF4F-4DA6-9357-B364FC1D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421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Review live rollups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EED530-2E26-424E-9B54-D05DB939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Dashboard, balance, and report views update automatically as soon as a planner changes data.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4FC61-D8F3-4695-9257-36D612F1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5181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6C9929-2354-4059-8811-774CA10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A2B50-4737-49D0-95AF-12D30B94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91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01E65-54EA-4EB2-9978-6B00CFC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421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Export and refine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F1F2F-8B6D-44B8-A82A-AD61E940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Use reports, print/PDF, Excel export, refinements, clear tools, and undo to support the briefing cycle.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952969-47DA-4DBA-BB72-05C5A166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19800"/>
            <a:ext cx="4095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47F8A1-EA34-40F5-961D-6FC5361D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057900"/>
            <a:ext cx="3714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Structured input -&gt; calculation engine -&gt; leadership-ready output</a:t>
            </a:r>
          </a:p>
        </p:txBody>
      </p:sp>
    </p:spTree>
    <p:extLst>
      <p:ext uri="{BB962C8B-B14F-4D97-AF65-F5344CB8AC3E}">
        <p14:creationId xmlns:p14="http://schemas.microsoft.com/office/powerpoint/2010/main" val="858989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67A7C-5F16-44E9-A060-7BD7DE84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73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C1505-9846-45F1-B980-A649B0A7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B7A6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4979B-1334-4701-8347-6F3FDD9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AA97B-50BB-48D8-BB00-C9541607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11430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8BA06-E42A-4891-85A3-D1F45411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B94D"/>
                </a:solidFill>
              </a:defRPr>
            </a:pPr>
            <a:r>
              <a:rPr sz="900" b="1">
                <a:solidFill>
                  <a:srgbClr val="F3B94D"/>
                </a:solidFill>
              </a:rPr>
              <a:t>WHY IT BEATS EXCEL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4B02B-1977-4874-A409-DCB7ACB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3B94D"/>
                </a:solidFill>
              </a:defRPr>
            </a:pPr>
            <a:r>
              <a:rPr sz="900" b="1">
                <a:solidFill>
                  <a:srgbClr val="F3B94D"/>
                </a:solidFill>
              </a:rPr>
              <a:t>03 / 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85223-0F6D-42DF-A868-734ABC6F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Why It Is Better Than Using Excel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79310-D5A9-4EF2-8A2B-804A8C02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Spreadsheet flexibility helps early on, but briefing-quality planning demands consistent logic, traceability, and faster scenario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DF358-D2E8-4265-AB67-3D3BEB84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05E7E-1317-4247-BA89-139421E5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ONE DATA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BFC48-03EC-4D52-91DB-695EAAF1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00300"/>
            <a:ext cx="1543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19868-C533-473E-81BE-2A913E97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66975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FASTER WHAT-IFS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900BD-6E37-4934-8E6D-22692002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1790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2A186-148C-41EF-9BE9-E7690838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BRIEF-READY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ACA50-42C3-4764-B87F-8D7A7FA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1676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E6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8A0BF-4F5F-4C26-A447-29260BDF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66975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LOWER WORKBOOK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0BD60-D347-423E-82FC-56CEBC7B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08585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1284B"/>
          </a:solidFill>
          <a:ln xmlns:a="http://schemas.openxmlformats.org/drawingml/2006/main" w="11430">
            <a:solidFill>
              <a:srgbClr val="294A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E3995-946E-4ABD-93EA-881F767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1EA"/>
                </a:solidFill>
              </a:defRPr>
            </a:pPr>
            <a:r>
              <a:rPr sz="1050" b="1">
                <a:solidFill>
                  <a:srgbClr val="BFD1EA"/>
                </a:solidFill>
              </a:rPr>
              <a:t>Planning Need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6E5A4-BE3B-4CFA-B914-08D2D9FD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1EA"/>
                </a:solidFill>
              </a:defRPr>
            </a:pPr>
            <a:r>
              <a:rPr sz="1050" b="1">
                <a:solidFill>
                  <a:srgbClr val="BFD1EA"/>
                </a:solidFill>
              </a:rPr>
              <a:t>Excel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4EA4A-0629-44E2-8DCC-AE3255A4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China Tracker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CB03B-8B69-4320-96D4-6B9B25D6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0439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7E3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BC65A0-6BB5-40A2-A92F-1166A929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909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43B"/>
                </a:solidFill>
              </a:defRPr>
            </a:pPr>
            <a:r>
              <a:rPr sz="1050" b="1">
                <a:solidFill>
                  <a:srgbClr val="13243B"/>
                </a:solidFill>
              </a:rPr>
              <a:t>Formula integrity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C2D54-58D2-4C04-ADB1-7353966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3377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Linked formulas</a:t>
            </a:r>
          </a:p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across tabs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76455-2BAA-45A4-A4D3-EA63696F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495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833F18-67A2-4AE1-8875-138F0CB1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Structured inputs and</a:t>
            </a:r>
          </a:p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shared calculation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826B7-0682-4589-A251-ADE2001F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0439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8573">
            <a:solidFill>
              <a:srgbClr val="D7E3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D88E0-DC53-4D02-B319-6F24D5EC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481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43B"/>
                </a:solidFill>
              </a:defRPr>
            </a:pPr>
            <a:r>
              <a:rPr sz="1050" b="1">
                <a:solidFill>
                  <a:srgbClr val="13243B"/>
                </a:solidFill>
              </a:rPr>
              <a:t>Speed to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86CF5-A252-4A1F-84F6-34798A62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9097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Rework sheets and totals</a:t>
            </a:r>
          </a:p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after each change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93279-EB6D-4937-A1A1-CF802582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495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F6CF1D-94DC-4271-92AA-42DDB97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Totals and funding splits</a:t>
            </a:r>
          </a:p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recalculate immediately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6A1EB7-EE2C-4AA1-837D-106A522E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439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7E3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3CF77E-D324-49A7-BB06-647BD1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053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43B"/>
                </a:solidFill>
              </a:defRPr>
            </a:pPr>
            <a:r>
              <a:rPr sz="1050" b="1">
                <a:solidFill>
                  <a:srgbClr val="13243B"/>
                </a:solidFill>
              </a:rPr>
              <a:t>Scenario testing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CD761-E54F-40BE-8CE6-774294E9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4817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Duplicate versions</a:t>
            </a:r>
          </a:p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to compare options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7D2F31-E743-4484-8B75-56201E16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95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855BB4-0DD0-4F72-9180-60A8A7FE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Clear tools and 10-step undo</a:t>
            </a:r>
          </a:p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support fast what-ifs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439E29-42A2-4A7A-9628-3B711AD8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0439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8573">
            <a:solidFill>
              <a:srgbClr val="D7E3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D50501-1755-4A73-9252-5ADB4B72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43B"/>
                </a:solidFill>
              </a:defRPr>
            </a:pPr>
            <a:r>
              <a:rPr sz="1050" b="1">
                <a:solidFill>
                  <a:srgbClr val="13243B"/>
                </a:solidFill>
              </a:rPr>
              <a:t>Traceability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8D002B-6A1E-49C4-98BC-B572BE30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0537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Hard to brief where</a:t>
            </a:r>
          </a:p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the numbers came from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7B6169-FE6C-41CF-B98B-CE1544BD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495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F2D000-96B0-4454-9894-499B74EA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Costs stay grouped by unit,</a:t>
            </a:r>
          </a:p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section, and funding line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C1135E-5C67-4982-A59F-D62524F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0439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D7E3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858154-486A-49AC-9F3C-10026072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197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43B"/>
                </a:solidFill>
              </a:defRPr>
            </a:pPr>
            <a:r>
              <a:rPr sz="1050" b="1">
                <a:solidFill>
                  <a:srgbClr val="13243B"/>
                </a:solidFill>
              </a:rPr>
              <a:t>Briefing output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9B7E35-9B50-4938-8A6C-9C2D0EA2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62575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Cleanup before</a:t>
            </a:r>
          </a:p>
          <a:p xmlns:a="http://schemas.openxmlformats.org/drawingml/2006/main">
            <a:pPr algn="l">
              <a:defRPr sz="938" b="0">
                <a:solidFill>
                  <a:srgbClr val="516177"/>
                </a:solidFill>
              </a:defRPr>
            </a:pPr>
            <a:r>
              <a:rPr sz="938" b="0">
                <a:solidFill>
                  <a:srgbClr val="516177"/>
                </a:solidFill>
              </a:rPr>
              <a:t>every 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12D44E-AA33-421D-8657-3C2F05A2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53050"/>
            <a:ext cx="495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B289E7-0A91-42E3-AA9B-594EF2E7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462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Balance report, print/PDF,</a:t>
            </a:r>
          </a:p>
          <a:p xmlns:a="http://schemas.openxmlformats.org/drawingml/2006/main">
            <a:pPr algn="l">
              <a:defRPr sz="938" b="1">
                <a:solidFill>
                  <a:srgbClr val="102548"/>
                </a:solidFill>
              </a:defRPr>
            </a:pPr>
            <a:r>
              <a:rPr sz="938" b="1">
                <a:solidFill>
                  <a:srgbClr val="102548"/>
                </a:solidFill>
              </a:rPr>
              <a:t>and export from live data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FE0049-01E1-4AA0-ACC8-7A7965E5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32C52"/>
          </a:solidFill>
          <a:ln xmlns:a="http://schemas.openxmlformats.org/drawingml/2006/main" w="9525">
            <a:solidFill>
              <a:srgbClr val="294A7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90C9DD-D1DE-486F-A3EF-251845A2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76975"/>
            <a:ext cx="10363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E2F0"/>
                </a:solidFill>
              </a:defRPr>
            </a:pPr>
            <a:r>
              <a:rPr sz="975" b="0">
                <a:solidFill>
                  <a:srgbClr val="D8E2F0"/>
                </a:solidFill>
              </a:rPr>
              <a:t>Planning stays less dependent on one spreadsheet owner because exercises, reports, and refinements are saved inside the same workflow.</a:t>
            </a:r>
          </a:p>
        </p:txBody>
      </p:sp>
    </p:spTree>
    <p:extLst>
      <p:ext uri="{BB962C8B-B14F-4D97-AF65-F5344CB8AC3E}">
        <p14:creationId xmlns:p14="http://schemas.microsoft.com/office/powerpoint/2010/main" val="1809308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D62E8-3E67-4C0E-93B0-11020293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C3BF5-E0D0-4FA9-9F9B-0D32FADB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857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B6D91-8DED-4A08-8CCF-88F23F64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9BB13-964D-4809-97E5-1994F9D5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MAIN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7E251-30EB-442D-9E13-88736D55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04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9B1FB-FB0E-4E1E-BD9C-525DF50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Main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6F8F8-A3D3-49C8-94AB-2EBCE5E1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application combines executive visibility, detailed planning controls, and briefing output in one connected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B4573-9ED9-4C39-9AB1-594489C4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335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4FA36-7F7B-48E5-B493-C3615906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E8ABB-926E-4105-8F68-F0617ED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F9C1F-E5DE-4F2E-B8F5-C34FD74D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Real-time rollups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E2BAA-F46E-4108-BF04-82A15785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00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Grand total, RPA, O&amp;M, and PAX update immediately as users change any planning input.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B0901-073E-401C-9F3C-F46E52AD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00350"/>
            <a:ext cx="335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72FCB-B20A-4C71-A72D-D1D03CE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4D45F-16F1-4382-85C9-9FAA7B1E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UNIT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CE55E-C3A1-4A32-80CA-D90FF7A5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Unit-specific 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CF6CB-54A8-4721-A10A-4CC25FBB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71900"/>
            <a:ext cx="300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SG, AE, CAB, and A7 each have purpose-built sections for planning, players, white cell, and support logic.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B548A-8ECA-40B6-8AD7-D5DF10D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00350"/>
            <a:ext cx="335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2F0AC-79F4-4123-9EB3-1549F6C4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D67AC-2917-4C4F-A928-99DA6F7D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3930F-A59B-402E-AA56-5C459E6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Rate configuration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0E85B-9575-4442-9085-3F1EDB6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00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CPD, per diem, meals, airfare, rental assumptions, and budget targets are maintained centrally.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6DF3A-6F8B-4674-B5D7-90387EE1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35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84EA3-CC6E-42A4-AE1B-CB92F3AB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F401F3-C5A9-4A31-8C50-A4C33F04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A4C4A-A32A-44AC-899C-3F6F29AE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Reporting and export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45A5A-8027-4A3D-A9BA-64AB3469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300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Balance, print/PDF, and Excel output make the same live data ready for briefings and follow-on documents.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8885E-AB22-46DA-ADB6-3043A19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35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E59375-C027-4BED-AA13-6BBEB59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0535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599C3-74E8-4C9E-BC17-4C356D4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8155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DEBB12-6736-4B2D-AADE-6CF35F9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625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Refinements workspace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AF9037-B9AC-4DC4-85CD-8CA5D0EF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05450"/>
            <a:ext cx="300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Improvement notes, status tracking, and follow-up context live inside the app instead of in side notes.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789074-03BD-434C-AE23-E9CB249D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33900"/>
            <a:ext cx="3352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CCB70-EC0F-4041-957F-44440FCA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05350"/>
            <a:ext cx="533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952AA6-57FE-4ADC-BCE5-C23265D6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8155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SAFE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EBBA9-6F29-40DE-9B1E-A45F0ECD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625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Safety controls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D774CD-46C4-4811-9D95-1F5E0D2A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05450"/>
            <a:ext cx="300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Section clear, unit clear, authenticated persistence, and 10-step undo reduce the risk of bad edits during preparation.</a:t>
            </a:r>
          </a:p>
        </p:txBody>
      </p:sp>
    </p:spTree>
    <p:extLst>
      <p:ext uri="{BB962C8B-B14F-4D97-AF65-F5344CB8AC3E}">
        <p14:creationId xmlns:p14="http://schemas.microsoft.com/office/powerpoint/2010/main" val="674417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59452-19FC-42F7-BB7F-BFFAFE7B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02D1B-9380-4571-9D06-CE498736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857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1DFA5-C365-4AF0-AF67-A9A7930A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698A8-83FD-4743-B80C-1BD7A831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LIVE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756C7-7E99-4FE6-B7D1-5BA49970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05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ADDF2-DDE2-42FC-9477-E0451D52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Live Demonstration: Executive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CF844-A214-4797-ABC9-98E6815D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Leadership can immediately see total cost, funding split, PAX, and unit-level impact from one screen.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F3EAD-D25B-43E9-ACE8-F7EA714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75247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B1830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4D94E-3005-447F-B0C5-7D7D13ED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43100"/>
            <a:ext cx="75247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EDAFA-7353-4E42-9F19-B0A4568A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76450"/>
            <a:ext cx="7219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3C149-58E6-4BB7-83ED-18BA5C5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D62BF-1FC7-4E2E-9352-562E4717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AF3CD-4344-4724-B635-6B475B62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d0c0bb4cf4c1e"/>
          <a:stretch xmlns:a="http://schemas.openxmlformats.org/drawingml/2006/main"/>
        </p:blipFill>
        <p:spPr>
          <a:xfrm xmlns:a="http://schemas.openxmlformats.org/drawingml/2006/main">
            <a:off x="4562475" y="2438400"/>
            <a:ext cx="6400800" cy="3600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761A0-2DC7-4906-A21F-31B4A3A4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9436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484A8-5B25-45C6-B42F-C7FC9E7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0102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1AC63-A7E1-40A5-904D-EE642024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5183B-35C9-45C1-9BBE-DC8F8A78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At-a-glance totals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8840A-CF85-43DC-AFC9-B4796E00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Grand Total, RPA, O&amp;M, and PAX are visible immediately at the top of the screen.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5A8B8-B125-4D05-AA88-A5E80AD3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119D6-B959-40DD-9EFC-A2BF869D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Executive briefing 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DB73B-58CD-478F-AF95-63C0DC33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Unit-level totals summarize how SG, AE, CAB, and A7 each contribute to the overall cost picture.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C9CAD-BC22-4E2A-BC7E-879B770E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DE691-12B9-47E3-9D2B-AB8F0166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Visual comparison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D48FC-BAF1-4A81-9025-7FCC77FC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Charts make the funding mix and cost distribution easier to explain in a live room.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52410-E1DF-477C-9156-4A8DFFAA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60C06-64AA-4967-8B95-439314D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Fast scenario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838D3-16E9-4002-BF53-72C644B9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A planner can update assumptions and keep leadership oriented without leaving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327903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EB50E-50C3-42C4-B1B9-994E9665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98193-04C0-48F2-A090-2F0B5841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857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D5DB8-3B31-45D3-B57F-6B371950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AA178-1137-427B-B271-26BC0263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LIVE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6DC30-82CB-41B1-88AA-2BD37086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06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03B1E-4F0D-4C13-9940-9CCA0ECE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Live Demonstration: From Unit Entry to 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3763D-328B-442B-BA89-2B7CED63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same data drives detailed unit planning, report generation, and the refinements loop.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E6547-FFE7-42FF-98F3-50501B5D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62865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0B1830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B5EDA-2627-4FC1-973E-E06149F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2865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E5B20-46CD-4B19-84F4-F8AEF658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59817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1DBF7-9E6E-4781-81F6-99DA2048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42C3B-1F3F-42F5-B5C6-F61D046D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E3D41-1404-4EC6-84B4-5816056A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333488e8d41f5"/>
          <a:stretch xmlns:a="http://schemas.openxmlformats.org/drawingml/2006/main"/>
        </p:blipFill>
        <p:spPr>
          <a:xfrm xmlns:a="http://schemas.openxmlformats.org/drawingml/2006/main">
            <a:off x="1066800" y="2876550"/>
            <a:ext cx="5486400" cy="30861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623F0-2444-4854-B933-7C8BB0EE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A65B9-8BD4-4D88-AAD5-2DC13DBB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340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Unit 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52EC1-D96C-42D3-998A-87279A3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4191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B1830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00EA4-6A70-4938-9A77-E7E6C9F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191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7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0C8F1-E2EE-4177-A8F1-F58F0ED3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14600"/>
            <a:ext cx="3886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DA514-3A2F-46E6-998E-F932E4FF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F5C4C-6AF5-4342-A91B-2D0DAFFD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C16BF4-2C85-4158-BEBA-CC3C24D3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b6f714dc84a23"/>
          <a:stretch xmlns:a="http://schemas.openxmlformats.org/drawingml/2006/main"/>
        </p:blipFill>
        <p:spPr>
          <a:xfrm xmlns:a="http://schemas.openxmlformats.org/drawingml/2006/main">
            <a:off x="8447617" y="2876550"/>
            <a:ext cx="1964267" cy="11049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283A9-6B2F-460D-AE2E-F49713A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862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2F143-5F98-47F7-A4DC-93C54949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528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435866-ABC6-4B67-8015-2FEA293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95800"/>
            <a:ext cx="4191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B1830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496137-F510-433A-AEB7-2951D469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4191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7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7B100-56AF-47FD-AD19-25E8E5DB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95800"/>
            <a:ext cx="3886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20D909-CCD0-46D1-840A-5CD5F28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AB1896-4B6A-4E58-8970-33726D8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54959-2748-4053-AC26-44615837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9fa53c86e4f99"/>
          <a:stretch xmlns:a="http://schemas.openxmlformats.org/drawingml/2006/main"/>
        </p:blipFill>
        <p:spPr>
          <a:xfrm xmlns:a="http://schemas.openxmlformats.org/drawingml/2006/main">
            <a:off x="8447617" y="4857750"/>
            <a:ext cx="1964267" cy="11049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5B555D-980E-40B0-8496-F68BE5C8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674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05A49-F7B7-4BED-A001-62578447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9340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Refinements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273D7-75A6-488D-9F1F-3B1DC1DA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1E832C-B644-4408-9A1E-5925779F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95975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ENTER COST DRIVERS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E00565-26DB-4CAC-B35D-0CDFD935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91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177"/>
                </a:solidFill>
              </a:defRPr>
            </a:pPr>
            <a:r>
              <a:rPr sz="975" b="0">
                <a:solidFill>
                  <a:srgbClr val="516177"/>
                </a:solidFill>
              </a:rPr>
              <a:t>Unit pages let users work at the level planners actually need: section totals, duty days, locations, contracts, and execution costs.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3076AE-3B46-404B-A60F-DEB145AA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29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AB305E-599C-4C7E-83AC-F5BE4466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9597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BRIEF + FOLLOW UP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02CCA8-CD97-49F5-8A20-0F422821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7912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177"/>
                </a:solidFill>
              </a:defRPr>
            </a:pPr>
            <a:r>
              <a:rPr sz="975" b="0">
                <a:solidFill>
                  <a:srgbClr val="516177"/>
                </a:solidFill>
              </a:rPr>
              <a:t>Report output and refinements keep the briefing package and improvement tracking inside the same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363406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4EA15-A5F5-402F-990B-7B775DA0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69A8E-8566-4238-9F05-01A8A95C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8572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F8AC0-4298-463A-97FB-BCD54FD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BC703-56E7-48A0-8E7D-0279FDCB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FUTURE POTENTIAL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B3B3-6DFD-454B-A8C4-D7C1C5EB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07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A522E-2A2A-4B3F-BD34-6FCC8230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Future Potential Uses and Improvements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559D4-A027-46B0-9262-D3101DD9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current version already replaces manual budgeting; the next phase can turn it into a broader planning platform.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45374-79BF-4434-9FE1-90BAEDF6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3337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AA098-EAB8-49D8-BEAD-1D87628C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D76D7-706B-4108-900A-E98A0040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Near-term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B77BE-47E6-4C32-8965-BD298D5A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Improve the current operating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7CAAA-0023-405E-BC6A-2D88CC6E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56DBD-A0D8-4E62-9FE6-24CCDBF0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Role-based permissions and approval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76AC4-BE64-4CAB-B427-85879E25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3B126-A98D-4F20-B67C-8868A7D6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Saved report packs and leadership templates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2890A-DA80-4B4E-8DA9-3E99772A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A3D6B-64FF-4B9E-A134-B04BB226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More guided setup for new exercises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EF4DA-372D-4C66-A6B2-7E073659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AF881B-D407-47AF-ACD8-B95F8208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FA9F21-D408-417E-BF4A-67CC1F02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81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Next expansion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46EC4-9039-46FB-B59B-A15F1692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Strengthen planning depth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95213-03F8-4B52-9655-C3F2A712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68148-C457-4072-A2C1-382F8BE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909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Scenario versioning and side-by-side comparisons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8F6D1-1C05-4876-A456-4DEA945F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AE261-4387-4BD9-BEFB-56D60AA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481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Exercise history and trend snapshots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E5728-7CB9-4D4F-9DB7-63600F06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B7080-48E6-4830-8E7B-6BF36AB0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053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Portfolio view across multiple exercises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27AE7-5CD8-4B49-84A5-D6ABCA79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3337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639D5-79D8-401E-897F-245A6102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9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01DB09-F6BB-4C59-8D5A-2536B118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Strategic potential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0B670-BF93-43C3-8E7C-1A074427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Turn the tool into decision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D4D5F-4C15-4A34-8DD2-C3995EEC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9EEB41-CD8E-4372-98F5-934A5D59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Forecasting for future budget posture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17E68A-BD45-43DB-A536-3F29E6FA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FB93A9-812D-4D24-AB4D-87A2C7B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Recommendation support for staffing or travel changes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EA1E1-43DE-4EE5-B6C7-F5FE6BB9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B60234-9F98-48A1-8A5B-DFFC7186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Cross-functional planning beyond a single briefing cycle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0B66B5-81C3-4EE3-9DC5-E16BF6B3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85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DF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A0664E-2E0A-49E9-80EA-D5C9AAD0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Potential future use cases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14BFF0-B97C-4AA0-B9DF-F36F86BB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197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8C6FA-D952-42E2-A31A-F1335AAC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86375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Funding drills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1EA2F4-A93D-42C6-9F11-7E2A6771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19700"/>
            <a:ext cx="1733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AD94EF-D3E5-473B-8CFC-11367D8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Scenario rehearsal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072EB2-6DFA-4B69-B499-209C6D14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1885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0BD58A-8B83-4497-897F-4FFC575D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8637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After-action lessons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2383B4-BAB6-4E9E-9320-6CD9DC4E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19700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19B235-3EA0-4A1C-A879-1A416C4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86375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Portfolio 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DA3895-1AF2-40D2-9F4E-3F7408BC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19700"/>
            <a:ext cx="1581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401A8E-9D5B-4FA8-9EFC-71878A58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286375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862212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C7F78-C0BF-4D77-B44B-DD2F9EE8E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A1D79-0965-48EA-A6B5-BD0A360E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73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B3964-6B37-46EE-8C05-7B7831A5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11430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B7A6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6DBFE-9A4D-4BD7-8602-F9C61DA9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8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38628-D7B1-4825-8920-7979E775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6324600"/>
          </a:xfrm>
          <a:prstGeom xmlns:a="http://schemas.openxmlformats.org/drawingml/2006/main" prst="roundRect">
            <a:avLst>
              <a:gd name="adj" fmla="val 1205"/>
            </a:avLst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11430">
            <a:solidFill>
              <a:srgbClr val="FFFFFF">
                <a:alpha val="9412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980E-26A2-4F79-BA4D-BCCA977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CLOSING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C2916-77E4-4B50-8B7A-77C1DE72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08 / 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2FB6A-5796-41F4-9F55-8D3D08FC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What This Enables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73A6F-A16D-45F6-9CD1-8A7C9A65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Faster planning cycles. Cleaner leadership briefings. More confidence in the numbers.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309E8-B301-4B0D-867A-FEE8485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352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284B"/>
          </a:solidFill>
          <a:ln xmlns:a="http://schemas.openxmlformats.org/drawingml/2006/main" w="11430">
            <a:solidFill>
              <a:srgbClr val="2A4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A6372-B847-4427-967F-EC1FD80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AE46E-0F50-457B-B6AF-FFA5C1D6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DB5E0-CFA1-47DC-BAEC-DE8016CC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Faster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88AFB-DA07-4872-A0E9-C189E07F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Leaders can ask 'what if' questions and get an updated answer without a workbook rebuild.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92977-E762-4180-8377-9F338157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3352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284B"/>
          </a:solidFill>
          <a:ln xmlns:a="http://schemas.openxmlformats.org/drawingml/2006/main" w="11430">
            <a:solidFill>
              <a:srgbClr val="2A46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B1893-B8BB-4DD5-A84E-779BB8F1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89D32-9EBB-4F6D-9716-41E916A3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33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5994C-99E0-4B67-8EB5-0164AAE1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More defensible briefs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A8CCA-C8D8-4F86-BB6D-48AA0C3F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Every total ties back to structured unit inputs, rate assumptions, and repeatable logic.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2F699-27D0-48DB-A778-3931C38C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3528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284B"/>
          </a:solidFill>
          <a:ln xmlns:a="http://schemas.openxmlformats.org/drawingml/2006/main" w="11430">
            <a:solidFill>
              <a:srgbClr val="2A4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B0806-638D-45AF-B5BC-2030745E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FF6D0-2F2B-46A9-8ED7-DCF05E7E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8F9C3-9F96-4F4C-99B3-CE44FBE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Better continuity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2FFA4-7A06-45E3-A502-3F2083C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Refinements, exports, clear actions, and undo reduce rework across the full preparation cycle.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8B54D-404E-4ABC-920B-71E1F37C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1284B"/>
          </a:solidFill>
          <a:ln xmlns:a="http://schemas.openxmlformats.org/drawingml/2006/main" w="10478">
            <a:solidFill>
              <a:srgbClr val="294A7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A1D75-03EF-4CA8-AB9D-B9C18012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15025"/>
            <a:ext cx="1032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Patriot Medic is already a stronger planning surface than a spreadsheet and is positioned to grow into a broader decision-support platform.</a:t>
            </a:r>
          </a:p>
        </p:txBody>
      </p:sp>
    </p:spTree>
    <p:extLst>
      <p:ext uri="{BB962C8B-B14F-4D97-AF65-F5344CB8AC3E}">
        <p14:creationId xmlns:p14="http://schemas.microsoft.com/office/powerpoint/2010/main" val="1886812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2026-04-23T23:06:02.1880000Z</dcterms:created>
  <dcterms:modified xsi:type="dcterms:W3CDTF">2026-04-23T23:06:02.1880000Z</dcterms:modified>
</coreProperties>
</file>