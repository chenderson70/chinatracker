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71" d="100"/>
          <a:sy n="171" d="100"/>
        </p:scale>
        <p:origin x="32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llen Henderson" userId="30f7315b5167906e" providerId="LiveId" clId="{89FCC57B-A097-40F1-96D5-9230F548B7F1}"/>
    <pc:docChg chg="custSel modSld">
      <pc:chgData name="Cullen Henderson" userId="30f7315b5167906e" providerId="LiveId" clId="{89FCC57B-A097-40F1-96D5-9230F548B7F1}" dt="2026-04-23T23:02:36.362" v="15" actId="478"/>
      <pc:docMkLst>
        <pc:docMk/>
      </pc:docMkLst>
      <pc:sldChg chg="delSp mod">
        <pc:chgData name="Cullen Henderson" userId="30f7315b5167906e" providerId="LiveId" clId="{89FCC57B-A097-40F1-96D5-9230F548B7F1}" dt="2026-04-23T23:02:36.362" v="15" actId="478"/>
        <pc:sldMkLst>
          <pc:docMk/>
          <pc:sldMk cId="1710601043" sldId="256"/>
        </pc:sldMkLst>
        <pc:spChg chg="del">
          <ac:chgData name="Cullen Henderson" userId="30f7315b5167906e" providerId="LiveId" clId="{89FCC57B-A097-40F1-96D5-9230F548B7F1}" dt="2026-04-23T23:02:33.231" v="14" actId="478"/>
          <ac:spMkLst>
            <pc:docMk/>
            <pc:sldMk cId="1710601043" sldId="256"/>
            <ac:spMk id="5" creationId="{CF06E392-6DB2-49DB-93AB-1727F74A4AB8}"/>
          </ac:spMkLst>
        </pc:spChg>
        <pc:spChg chg="del">
          <ac:chgData name="Cullen Henderson" userId="30f7315b5167906e" providerId="LiveId" clId="{89FCC57B-A097-40F1-96D5-9230F548B7F1}" dt="2026-04-23T23:02:36.362" v="15" actId="478"/>
          <ac:spMkLst>
            <pc:docMk/>
            <pc:sldMk cId="1710601043" sldId="256"/>
            <ac:spMk id="50" creationId="{44B557A0-5C47-4149-BBAB-98BDB76C6807}"/>
          </ac:spMkLst>
        </pc:spChg>
      </pc:sldChg>
      <pc:sldChg chg="delSp mod">
        <pc:chgData name="Cullen Henderson" userId="30f7315b5167906e" providerId="LiveId" clId="{89FCC57B-A097-40F1-96D5-9230F548B7F1}" dt="2026-04-23T23:02:28.566" v="13" actId="478"/>
        <pc:sldMkLst>
          <pc:docMk/>
          <pc:sldMk cId="834038880" sldId="257"/>
        </pc:sldMkLst>
        <pc:spChg chg="del">
          <ac:chgData name="Cullen Henderson" userId="30f7315b5167906e" providerId="LiveId" clId="{89FCC57B-A097-40F1-96D5-9230F548B7F1}" dt="2026-04-23T23:02:28.566" v="13" actId="478"/>
          <ac:spMkLst>
            <pc:docMk/>
            <pc:sldMk cId="834038880" sldId="257"/>
            <ac:spMk id="36" creationId="{44B557A0-5C47-4149-BBAB-98BDB76C6807}"/>
          </ac:spMkLst>
        </pc:spChg>
      </pc:sldChg>
      <pc:sldChg chg="delSp mod">
        <pc:chgData name="Cullen Henderson" userId="30f7315b5167906e" providerId="LiveId" clId="{89FCC57B-A097-40F1-96D5-9230F548B7F1}" dt="2026-04-23T23:02:15.093" v="12" actId="478"/>
        <pc:sldMkLst>
          <pc:docMk/>
          <pc:sldMk cId="328988047" sldId="258"/>
        </pc:sldMkLst>
        <pc:spChg chg="del">
          <ac:chgData name="Cullen Henderson" userId="30f7315b5167906e" providerId="LiveId" clId="{89FCC57B-A097-40F1-96D5-9230F548B7F1}" dt="2026-04-23T23:01:50.141" v="9" actId="478"/>
          <ac:spMkLst>
            <pc:docMk/>
            <pc:sldMk cId="328988047" sldId="258"/>
            <ac:spMk id="5" creationId="{9A961DEC-A747-4AA5-97DA-4D32EAFDE5CA}"/>
          </ac:spMkLst>
        </pc:spChg>
        <pc:spChg chg="del">
          <ac:chgData name="Cullen Henderson" userId="30f7315b5167906e" providerId="LiveId" clId="{89FCC57B-A097-40F1-96D5-9230F548B7F1}" dt="2026-04-23T23:02:12.743" v="11" actId="478"/>
          <ac:spMkLst>
            <pc:docMk/>
            <pc:sldMk cId="328988047" sldId="258"/>
            <ac:spMk id="11" creationId="{22C43B1B-F8FD-4802-B6E7-B1BDEEBD8587}"/>
          </ac:spMkLst>
        </pc:spChg>
        <pc:spChg chg="del">
          <ac:chgData name="Cullen Henderson" userId="30f7315b5167906e" providerId="LiveId" clId="{89FCC57B-A097-40F1-96D5-9230F548B7F1}" dt="2026-04-23T23:02:15.093" v="12" actId="478"/>
          <ac:spMkLst>
            <pc:docMk/>
            <pc:sldMk cId="328988047" sldId="258"/>
            <ac:spMk id="12" creationId="{BDEBF23F-C0E2-423F-9C47-44C342AFB2A7}"/>
          </ac:spMkLst>
        </pc:spChg>
        <pc:spChg chg="del">
          <ac:chgData name="Cullen Henderson" userId="30f7315b5167906e" providerId="LiveId" clId="{89FCC57B-A097-40F1-96D5-9230F548B7F1}" dt="2026-04-23T23:01:52.842" v="10" actId="478"/>
          <ac:spMkLst>
            <pc:docMk/>
            <pc:sldMk cId="328988047" sldId="258"/>
            <ac:spMk id="48" creationId="{44B557A0-5C47-4149-BBAB-98BDB76C6807}"/>
          </ac:spMkLst>
        </pc:spChg>
      </pc:sldChg>
      <pc:sldChg chg="delSp mod">
        <pc:chgData name="Cullen Henderson" userId="30f7315b5167906e" providerId="LiveId" clId="{89FCC57B-A097-40F1-96D5-9230F548B7F1}" dt="2026-04-23T23:01:43.871" v="8" actId="478"/>
        <pc:sldMkLst>
          <pc:docMk/>
          <pc:sldMk cId="691820565" sldId="259"/>
        </pc:sldMkLst>
        <pc:spChg chg="del">
          <ac:chgData name="Cullen Henderson" userId="30f7315b5167906e" providerId="LiveId" clId="{89FCC57B-A097-40F1-96D5-9230F548B7F1}" dt="2026-04-23T23:01:43.871" v="8" actId="478"/>
          <ac:spMkLst>
            <pc:docMk/>
            <pc:sldMk cId="691820565" sldId="259"/>
            <ac:spMk id="39" creationId="{44B557A0-5C47-4149-BBAB-98BDB76C6807}"/>
          </ac:spMkLst>
        </pc:spChg>
      </pc:sldChg>
      <pc:sldChg chg="delSp modSp mod">
        <pc:chgData name="Cullen Henderson" userId="30f7315b5167906e" providerId="LiveId" clId="{89FCC57B-A097-40F1-96D5-9230F548B7F1}" dt="2026-04-23T23:01:31.930" v="7" actId="1076"/>
        <pc:sldMkLst>
          <pc:docMk/>
          <pc:sldMk cId="1703386045" sldId="260"/>
        </pc:sldMkLst>
        <pc:spChg chg="mod">
          <ac:chgData name="Cullen Henderson" userId="30f7315b5167906e" providerId="LiveId" clId="{89FCC57B-A097-40F1-96D5-9230F548B7F1}" dt="2026-04-23T23:01:31.930" v="7" actId="1076"/>
          <ac:spMkLst>
            <pc:docMk/>
            <pc:sldMk cId="1703386045" sldId="260"/>
            <ac:spMk id="10" creationId="{40BC07F7-0FE0-4762-97BB-039500C73F25}"/>
          </ac:spMkLst>
        </pc:spChg>
        <pc:spChg chg="del">
          <ac:chgData name="Cullen Henderson" userId="30f7315b5167906e" providerId="LiveId" clId="{89FCC57B-A097-40F1-96D5-9230F548B7F1}" dt="2026-04-23T23:01:29.835" v="6" actId="478"/>
          <ac:spMkLst>
            <pc:docMk/>
            <pc:sldMk cId="1703386045" sldId="260"/>
            <ac:spMk id="30" creationId="{44B557A0-5C47-4149-BBAB-98BDB76C6807}"/>
          </ac:spMkLst>
        </pc:spChg>
      </pc:sldChg>
      <pc:sldChg chg="delSp mod">
        <pc:chgData name="Cullen Henderson" userId="30f7315b5167906e" providerId="LiveId" clId="{89FCC57B-A097-40F1-96D5-9230F548B7F1}" dt="2026-04-23T23:01:24.743" v="5" actId="478"/>
        <pc:sldMkLst>
          <pc:docMk/>
          <pc:sldMk cId="1435874865" sldId="261"/>
        </pc:sldMkLst>
        <pc:spChg chg="del">
          <ac:chgData name="Cullen Henderson" userId="30f7315b5167906e" providerId="LiveId" clId="{89FCC57B-A097-40F1-96D5-9230F548B7F1}" dt="2026-04-23T23:01:24.743" v="5" actId="478"/>
          <ac:spMkLst>
            <pc:docMk/>
            <pc:sldMk cId="1435874865" sldId="261"/>
            <ac:spMk id="42" creationId="{44B557A0-5C47-4149-BBAB-98BDB76C6807}"/>
          </ac:spMkLst>
        </pc:spChg>
      </pc:sldChg>
      <pc:sldChg chg="delSp mod">
        <pc:chgData name="Cullen Henderson" userId="30f7315b5167906e" providerId="LiveId" clId="{89FCC57B-A097-40F1-96D5-9230F548B7F1}" dt="2026-04-23T23:01:19.554" v="4" actId="478"/>
        <pc:sldMkLst>
          <pc:docMk/>
          <pc:sldMk cId="1192804333" sldId="262"/>
        </pc:sldMkLst>
        <pc:spChg chg="del">
          <ac:chgData name="Cullen Henderson" userId="30f7315b5167906e" providerId="LiveId" clId="{89FCC57B-A097-40F1-96D5-9230F548B7F1}" dt="2026-04-23T23:01:19.554" v="4" actId="478"/>
          <ac:spMkLst>
            <pc:docMk/>
            <pc:sldMk cId="1192804333" sldId="262"/>
            <ac:spMk id="51" creationId="{44B557A0-5C47-4149-BBAB-98BDB76C6807}"/>
          </ac:spMkLst>
        </pc:spChg>
      </pc:sldChg>
      <pc:sldChg chg="delSp modSp mod">
        <pc:chgData name="Cullen Henderson" userId="30f7315b5167906e" providerId="LiveId" clId="{89FCC57B-A097-40F1-96D5-9230F548B7F1}" dt="2026-04-23T23:01:10.934" v="3" actId="478"/>
        <pc:sldMkLst>
          <pc:docMk/>
          <pc:sldMk cId="410881045" sldId="263"/>
        </pc:sldMkLst>
        <pc:spChg chg="del mod">
          <ac:chgData name="Cullen Henderson" userId="30f7315b5167906e" providerId="LiveId" clId="{89FCC57B-A097-40F1-96D5-9230F548B7F1}" dt="2026-04-23T23:01:06.272" v="2" actId="478"/>
          <ac:spMkLst>
            <pc:docMk/>
            <pc:sldMk cId="410881045" sldId="263"/>
            <ac:spMk id="5" creationId="{AF911A85-0A27-4F19-BC87-75090EC7DAB5}"/>
          </ac:spMkLst>
        </pc:spChg>
        <pc:spChg chg="del">
          <ac:chgData name="Cullen Henderson" userId="30f7315b5167906e" providerId="LiveId" clId="{89FCC57B-A097-40F1-96D5-9230F548B7F1}" dt="2026-04-23T23:01:10.934" v="3" actId="478"/>
          <ac:spMkLst>
            <pc:docMk/>
            <pc:sldMk cId="410881045" sldId="263"/>
            <ac:spMk id="27" creationId="{44B557A0-5C47-4149-BBAB-98BDB76C680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mission: this is the transition from spreadsheet budgeting to a live, briefing-ready planning surface. Briefly point to the three screenshots as proof the product already spans executive view, unit planning, and reporting.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five steps from left to right. Emphasize that the app follows the planning rhythm users already know, but the rollups and calculations happen automatically in the background.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leadership-focused. The message is not that Excel is bad; it is that spreadsheets become fragile when the audience expects shared logic, speed, and a defensible briefing trail.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summarize what matters operationally: real-time totals, structured unit inputs, reporting, refinements, and safety controls like clear actions and undo.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During the live portion, show how leadership can read total cost, funding split, unit table, and visual charts from one screen. This is the fastest way to orient a room.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shows that the same data model supports detailed unit planning and polished reporting. It also highlights that follow-up work can now be tracked inside the tool instead of on side notes.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roadmap as realistic extensions of the current foundation: approvals, scenario management, portfolio visibility, and decision support. The point is that the current app can grow into a platform.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on outcomes: faster decisions, better traceability, and cleaner leadership briefings. This should leave the audience with confidence that the app is useful now and expandable later.</a:t>
            </a:r>
          </a:p>
          <a:p>
            <a:endParaRPr/>
          </a:p>
          <a:p>
            <a:r>
              <a:t>Sources:</a:t>
            </a:r>
          </a:p>
          <a:p>
            <a:r>
              <a:t>- README.md</a:t>
            </a:r>
          </a:p>
          <a:p>
            <a:r>
              <a:t>- USER_GUIDE.md</a:t>
            </a:r>
          </a:p>
          <a:p>
            <a:r>
              <a:t>- ChinaTracker_PRD_v2.md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6E47B3-1B75-4CDD-9BDA-DE614B739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3C380F-A2AC-4E2B-BB42-22BF66A3B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5345823-23A1-47FA-9C31-CCECB7EECE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C9AE2B2-F112-4303-B8E6-23134F2EC7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B557A0-5C47-4149-BBAB-98BDB76C68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376FC5-55CE-47AB-8BE5-1D338AB1D63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881B8C8-248C-4911-9087-671E8D71F072}"/>
              </a:ext>
            </a:extLst>
          </p:cNvPr>
          <p:cNvSpPr>
            <a:spLocks noGrp="1"/>
          </p:cNvSpPr>
          <p:nvPr/>
        </p:nvSpPr>
        <p:spPr>
          <a:xfrm>
            <a:off x="-1047750" y="-762000"/>
            <a:ext cx="3429000" cy="3429000"/>
          </a:xfrm>
          <a:prstGeom prst="ellipse">
            <a:avLst/>
          </a:prstGeom>
          <a:solidFill>
            <a:srgbClr val="153A73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EACF91-7CBB-409C-8DDF-E47D254D9BB4}"/>
              </a:ext>
            </a:extLst>
          </p:cNvPr>
          <p:cNvSpPr>
            <a:spLocks noGrp="1"/>
          </p:cNvSpPr>
          <p:nvPr/>
        </p:nvSpPr>
        <p:spPr>
          <a:xfrm>
            <a:off x="9620250" y="-1143000"/>
            <a:ext cx="3143250" cy="3143250"/>
          </a:xfrm>
          <a:prstGeom prst="ellipse">
            <a:avLst/>
          </a:prstGeom>
          <a:solidFill>
            <a:srgbClr val="1CB7A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4CB2EB8-ADFA-4BFE-BF9C-CA1BC633CC8C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3619500" cy="3619500"/>
          </a:xfrm>
          <a:prstGeom prst="ellipse">
            <a:avLst/>
          </a:prstGeom>
          <a:solidFill>
            <a:srgbClr val="2B78FF">
              <a:alpha val="1254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7D050F-51AB-4EBC-8CCD-961A6043A285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EXECUTIVE BRIEF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64AEC-877D-4F24-ACAF-C7127B547316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01 / 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639C1C-3B21-4EF4-86FF-F938CCF81BBF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21907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FD2B06-496B-4921-88AC-9616F42D1235}"/>
              </a:ext>
            </a:extLst>
          </p:cNvPr>
          <p:cNvSpPr>
            <a:spLocks noGrp="1"/>
          </p:cNvSpPr>
          <p:nvPr/>
        </p:nvSpPr>
        <p:spPr>
          <a:xfrm>
            <a:off x="800100" y="942975"/>
            <a:ext cx="1924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PATRIOT MEDIC | CHINA TRACKER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3F249F-5D53-4963-9149-8550814FD034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514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Exercise Budget Planning</a:t>
            </a:r>
          </a:p>
          <a:p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Without Excel Fragility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B15C01-1D00-4D9B-84DC-E12B4113D6D2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762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China Tracker turns unit inputs, rate tables, and reporting requirements into one live planning picture that leadership can trust.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68EF71-373C-480C-B6A3-A6EE9FAD6FF5}"/>
              </a:ext>
            </a:extLst>
          </p:cNvPr>
          <p:cNvSpPr>
            <a:spLocks noGrp="1"/>
          </p:cNvSpPr>
          <p:nvPr/>
        </p:nvSpPr>
        <p:spPr>
          <a:xfrm>
            <a:off x="666750" y="3733800"/>
            <a:ext cx="46482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1581B3-6EC9-4A5E-A09A-67B1314C4B3E}"/>
              </a:ext>
            </a:extLst>
          </p:cNvPr>
          <p:cNvSpPr>
            <a:spLocks noGrp="1"/>
          </p:cNvSpPr>
          <p:nvPr/>
        </p:nvSpPr>
        <p:spPr>
          <a:xfrm>
            <a:off x="876300" y="3924300"/>
            <a:ext cx="400050" cy="40005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4ABF69-9A57-4DC2-9CCD-DB0C172A6485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37DA3-FDBF-44FB-80E0-176108A0DF5B}"/>
              </a:ext>
            </a:extLst>
          </p:cNvPr>
          <p:cNvSpPr>
            <a:spLocks noGrp="1"/>
          </p:cNvSpPr>
          <p:nvPr/>
        </p:nvSpPr>
        <p:spPr>
          <a:xfrm>
            <a:off x="1409700" y="3924300"/>
            <a:ext cx="3733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matters now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691649-A0BB-4837-B2AD-4F603A900F2A}"/>
              </a:ext>
            </a:extLst>
          </p:cNvPr>
          <p:cNvSpPr>
            <a:spLocks noGrp="1"/>
          </p:cNvSpPr>
          <p:nvPr/>
        </p:nvSpPr>
        <p:spPr>
          <a:xfrm>
            <a:off x="895350" y="4381500"/>
            <a:ext cx="4191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The application already replaces disconnected workbook logic with a single web-based planning surface that updates immediately.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85C3EA-48A7-4222-A00E-806B130A917D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4D8FC2-4260-4218-8986-F03B1C0C38C0}"/>
              </a:ext>
            </a:extLst>
          </p:cNvPr>
          <p:cNvSpPr>
            <a:spLocks noGrp="1"/>
          </p:cNvSpPr>
          <p:nvPr/>
        </p:nvSpPr>
        <p:spPr>
          <a:xfrm>
            <a:off x="800100" y="53625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REAL-TIME TOTALS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6CF237-BA19-4950-A2BA-637A4B41C940}"/>
              </a:ext>
            </a:extLst>
          </p:cNvPr>
          <p:cNvSpPr>
            <a:spLocks noGrp="1"/>
          </p:cNvSpPr>
          <p:nvPr/>
        </p:nvSpPr>
        <p:spPr>
          <a:xfrm>
            <a:off x="2209800" y="5295900"/>
            <a:ext cx="14668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BFDBF2-B825-4B33-9606-17B25DCB5EEC}"/>
              </a:ext>
            </a:extLst>
          </p:cNvPr>
          <p:cNvSpPr>
            <a:spLocks noGrp="1"/>
          </p:cNvSpPr>
          <p:nvPr/>
        </p:nvSpPr>
        <p:spPr>
          <a:xfrm>
            <a:off x="2343150" y="5362575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AUDIT-FRIENDLY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C95B513-EF1B-438E-BF87-1B4D701799EE}"/>
              </a:ext>
            </a:extLst>
          </p:cNvPr>
          <p:cNvSpPr>
            <a:spLocks noGrp="1"/>
          </p:cNvSpPr>
          <p:nvPr/>
        </p:nvSpPr>
        <p:spPr>
          <a:xfrm>
            <a:off x="3790950" y="5295900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7B8333-9B84-44D1-BCFA-EF265D366E92}"/>
              </a:ext>
            </a:extLst>
          </p:cNvPr>
          <p:cNvSpPr>
            <a:spLocks noGrp="1"/>
          </p:cNvSpPr>
          <p:nvPr/>
        </p:nvSpPr>
        <p:spPr>
          <a:xfrm>
            <a:off x="3924300" y="5362575"/>
            <a:ext cx="1257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EXPORT-READY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8FF97A-97B2-40C9-8CC5-5A69848867EF}"/>
              </a:ext>
            </a:extLst>
          </p:cNvPr>
          <p:cNvSpPr>
            <a:spLocks noGrp="1"/>
          </p:cNvSpPr>
          <p:nvPr/>
        </p:nvSpPr>
        <p:spPr>
          <a:xfrm>
            <a:off x="6286500" y="933450"/>
            <a:ext cx="5334000" cy="2400300"/>
          </a:xfrm>
          <a:prstGeom prst="roundRect">
            <a:avLst>
              <a:gd name="adj" fmla="val 3175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F66F2F5-9E2B-4EB2-A11F-1BF1B8DB86FA}"/>
              </a:ext>
            </a:extLst>
          </p:cNvPr>
          <p:cNvSpPr>
            <a:spLocks noGrp="1"/>
          </p:cNvSpPr>
          <p:nvPr/>
        </p:nvSpPr>
        <p:spPr>
          <a:xfrm>
            <a:off x="6191250" y="800100"/>
            <a:ext cx="5334000" cy="240030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0B6D153-EC11-478F-B45A-9B49722F6BF0}"/>
              </a:ext>
            </a:extLst>
          </p:cNvPr>
          <p:cNvSpPr>
            <a:spLocks noGrp="1"/>
          </p:cNvSpPr>
          <p:nvPr/>
        </p:nvSpPr>
        <p:spPr>
          <a:xfrm>
            <a:off x="6343650" y="933450"/>
            <a:ext cx="5029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6343D0-4404-44E9-BDE8-96FDF7FFBAB7}"/>
              </a:ext>
            </a:extLst>
          </p:cNvPr>
          <p:cNvSpPr>
            <a:spLocks noGrp="1"/>
          </p:cNvSpPr>
          <p:nvPr/>
        </p:nvSpPr>
        <p:spPr>
          <a:xfrm>
            <a:off x="6457950" y="10191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454366B-7CF9-4E2E-831E-49311153DCA5}"/>
              </a:ext>
            </a:extLst>
          </p:cNvPr>
          <p:cNvSpPr>
            <a:spLocks noGrp="1"/>
          </p:cNvSpPr>
          <p:nvPr/>
        </p:nvSpPr>
        <p:spPr>
          <a:xfrm>
            <a:off x="6591300" y="10191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48B60-96F6-419E-A9D2-0FE219BD979D}"/>
              </a:ext>
            </a:extLst>
          </p:cNvPr>
          <p:cNvSpPr>
            <a:spLocks noGrp="1"/>
          </p:cNvSpPr>
          <p:nvPr/>
        </p:nvSpPr>
        <p:spPr>
          <a:xfrm>
            <a:off x="6724650" y="10191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7317" y="1295400"/>
            <a:ext cx="3081867" cy="1733550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FAABEE-9C7D-45FF-81F6-9E63A1899F2D}"/>
              </a:ext>
            </a:extLst>
          </p:cNvPr>
          <p:cNvSpPr>
            <a:spLocks noGrp="1"/>
          </p:cNvSpPr>
          <p:nvPr/>
        </p:nvSpPr>
        <p:spPr>
          <a:xfrm>
            <a:off x="6362700" y="29337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348865-CBB2-4D2C-BE0C-8C57AD46A0F8}"/>
              </a:ext>
            </a:extLst>
          </p:cNvPr>
          <p:cNvSpPr>
            <a:spLocks noGrp="1"/>
          </p:cNvSpPr>
          <p:nvPr/>
        </p:nvSpPr>
        <p:spPr>
          <a:xfrm>
            <a:off x="6496050" y="30003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6A28EB5-0FAA-4FA1-BF2B-A715FF058E87}"/>
              </a:ext>
            </a:extLst>
          </p:cNvPr>
          <p:cNvSpPr>
            <a:spLocks noGrp="1"/>
          </p:cNvSpPr>
          <p:nvPr/>
        </p:nvSpPr>
        <p:spPr>
          <a:xfrm>
            <a:off x="6000750" y="3048000"/>
            <a:ext cx="3429000" cy="2419350"/>
          </a:xfrm>
          <a:prstGeom prst="roundRect">
            <a:avLst>
              <a:gd name="adj" fmla="val 3150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8A949C4-3741-4552-9B24-03BACC6BC930}"/>
              </a:ext>
            </a:extLst>
          </p:cNvPr>
          <p:cNvSpPr>
            <a:spLocks noGrp="1"/>
          </p:cNvSpPr>
          <p:nvPr/>
        </p:nvSpPr>
        <p:spPr>
          <a:xfrm>
            <a:off x="5905500" y="2914650"/>
            <a:ext cx="3429000" cy="241935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AC7CE76-5371-4F3F-8DEA-DC475A1A3533}"/>
              </a:ext>
            </a:extLst>
          </p:cNvPr>
          <p:cNvSpPr>
            <a:spLocks noGrp="1"/>
          </p:cNvSpPr>
          <p:nvPr/>
        </p:nvSpPr>
        <p:spPr>
          <a:xfrm>
            <a:off x="6057900" y="3048000"/>
            <a:ext cx="3124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57CDAD6-BE9F-419D-8C46-B2D6C2A48F53}"/>
              </a:ext>
            </a:extLst>
          </p:cNvPr>
          <p:cNvSpPr>
            <a:spLocks noGrp="1"/>
          </p:cNvSpPr>
          <p:nvPr/>
        </p:nvSpPr>
        <p:spPr>
          <a:xfrm>
            <a:off x="6172200" y="31337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35CB74-A59A-4886-B5ED-438499CE5C8A}"/>
              </a:ext>
            </a:extLst>
          </p:cNvPr>
          <p:cNvSpPr>
            <a:spLocks noGrp="1"/>
          </p:cNvSpPr>
          <p:nvPr/>
        </p:nvSpPr>
        <p:spPr>
          <a:xfrm>
            <a:off x="6305550" y="31337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D99542-5E95-43A6-85CB-300E76CDAD8A}"/>
              </a:ext>
            </a:extLst>
          </p:cNvPr>
          <p:cNvSpPr>
            <a:spLocks noGrp="1"/>
          </p:cNvSpPr>
          <p:nvPr/>
        </p:nvSpPr>
        <p:spPr>
          <a:xfrm>
            <a:off x="6438900" y="31337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76950" y="3418284"/>
            <a:ext cx="3086100" cy="1735931"/>
          </a:xfrm>
          <a:prstGeom prst="rect">
            <a:avLst/>
          </a:prstGeom>
        </p:spPr>
      </p:pic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98F6B1-8C23-481D-9FC4-5EEE81B14452}"/>
              </a:ext>
            </a:extLst>
          </p:cNvPr>
          <p:cNvSpPr>
            <a:spLocks noGrp="1"/>
          </p:cNvSpPr>
          <p:nvPr/>
        </p:nvSpPr>
        <p:spPr>
          <a:xfrm>
            <a:off x="6076950" y="50673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0179DC-6DB1-4FBB-9B68-230EDBF4A35E}"/>
              </a:ext>
            </a:extLst>
          </p:cNvPr>
          <p:cNvSpPr>
            <a:spLocks noGrp="1"/>
          </p:cNvSpPr>
          <p:nvPr/>
        </p:nvSpPr>
        <p:spPr>
          <a:xfrm>
            <a:off x="6210300" y="51339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View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9A18494-537D-4731-972E-A87948CCF691}"/>
              </a:ext>
            </a:extLst>
          </p:cNvPr>
          <p:cNvSpPr>
            <a:spLocks noGrp="1"/>
          </p:cNvSpPr>
          <p:nvPr/>
        </p:nvSpPr>
        <p:spPr>
          <a:xfrm>
            <a:off x="9086850" y="3409950"/>
            <a:ext cx="2533650" cy="1733550"/>
          </a:xfrm>
          <a:prstGeom prst="roundRect">
            <a:avLst>
              <a:gd name="adj" fmla="val 4396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5785F4A-35DB-4146-8A3F-D8483943C676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2533650" cy="173355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F5E06A9-D8A7-4BC1-894B-60EB6B200C7A}"/>
              </a:ext>
            </a:extLst>
          </p:cNvPr>
          <p:cNvSpPr>
            <a:spLocks noGrp="1"/>
          </p:cNvSpPr>
          <p:nvPr/>
        </p:nvSpPr>
        <p:spPr>
          <a:xfrm>
            <a:off x="9144000" y="3409950"/>
            <a:ext cx="222885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5300D0-15FE-4A63-AF0C-04EA4AE3C3B0}"/>
              </a:ext>
            </a:extLst>
          </p:cNvPr>
          <p:cNvSpPr>
            <a:spLocks noGrp="1"/>
          </p:cNvSpPr>
          <p:nvPr/>
        </p:nvSpPr>
        <p:spPr>
          <a:xfrm>
            <a:off x="9258300" y="34956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541ED2-7C77-4718-B241-9DDB6A66FBF6}"/>
              </a:ext>
            </a:extLst>
          </p:cNvPr>
          <p:cNvSpPr>
            <a:spLocks noGrp="1"/>
          </p:cNvSpPr>
          <p:nvPr/>
        </p:nvSpPr>
        <p:spPr>
          <a:xfrm>
            <a:off x="9391650" y="34956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C9F409B-0050-4F55-A68D-A137FA4B83FF}"/>
              </a:ext>
            </a:extLst>
          </p:cNvPr>
          <p:cNvSpPr>
            <a:spLocks noGrp="1"/>
          </p:cNvSpPr>
          <p:nvPr/>
        </p:nvSpPr>
        <p:spPr>
          <a:xfrm>
            <a:off x="9525000" y="34956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10158" y="3771900"/>
            <a:ext cx="1896533" cy="106680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7A5D006-7F72-45D8-96AE-6C3FE862EA90}"/>
              </a:ext>
            </a:extLst>
          </p:cNvPr>
          <p:cNvSpPr>
            <a:spLocks noGrp="1"/>
          </p:cNvSpPr>
          <p:nvPr/>
        </p:nvSpPr>
        <p:spPr>
          <a:xfrm>
            <a:off x="9163050" y="474345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F59C039-F901-4D0D-AC70-3A745CE3AFEC}"/>
              </a:ext>
            </a:extLst>
          </p:cNvPr>
          <p:cNvSpPr>
            <a:spLocks noGrp="1"/>
          </p:cNvSpPr>
          <p:nvPr/>
        </p:nvSpPr>
        <p:spPr>
          <a:xfrm>
            <a:off x="9296400" y="481012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71060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B5E7295-8914-448F-A15A-BD71E5CD200A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E6C544-FF15-4FD9-9774-83C81E51B8FC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A341D2-4265-49B7-B7D5-8E0D762E18EE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1F53A9-1BA0-415F-8D18-A270AEA3EBB8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HOW THE APP WORKS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6340C-A99E-47C5-8C8D-69E1B7B65425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02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F2E32-E3EB-4A59-A8F3-FF2D75B5F482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How the App Works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D68596-444B-47F3-84E1-7081DEE95EF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workflow mirrors how planners already think, but the calculations and rollups happen automatically.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7CB6EC-008D-4253-8AE2-C75E08E280A6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365EC1-1B98-4CBC-A147-BD35AFC25983}"/>
              </a:ext>
            </a:extLst>
          </p:cNvPr>
          <p:cNvSpPr>
            <a:spLocks noGrp="1"/>
          </p:cNvSpPr>
          <p:nvPr/>
        </p:nvSpPr>
        <p:spPr>
          <a:xfrm>
            <a:off x="895350" y="3048000"/>
            <a:ext cx="381000" cy="381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DFA572-F75B-432F-BC50-C3A633796BEC}"/>
              </a:ext>
            </a:extLst>
          </p:cNvPr>
          <p:cNvSpPr>
            <a:spLocks noGrp="1"/>
          </p:cNvSpPr>
          <p:nvPr/>
        </p:nvSpPr>
        <p:spPr>
          <a:xfrm>
            <a:off x="102870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7DDC95-3676-492C-ACBF-AC5135E0EFDA}"/>
              </a:ext>
            </a:extLst>
          </p:cNvPr>
          <p:cNvSpPr>
            <a:spLocks noGrp="1"/>
          </p:cNvSpPr>
          <p:nvPr/>
        </p:nvSpPr>
        <p:spPr>
          <a:xfrm>
            <a:off x="144780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Create or select an exercise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21D3B0-652C-4022-AEC7-27BEEFD906C2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Set the exercise name, date range, and default duty day assumptions once at the top.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DCAB946-1DF4-40CB-B36C-2D0D9B6A7D8D}"/>
              </a:ext>
            </a:extLst>
          </p:cNvPr>
          <p:cNvSpPr>
            <a:spLocks noGrp="1"/>
          </p:cNvSpPr>
          <p:nvPr/>
        </p:nvSpPr>
        <p:spPr>
          <a:xfrm>
            <a:off x="426720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C5E3E03-FF76-4C4A-BCA2-4C1AA0AFCAEB}"/>
              </a:ext>
            </a:extLst>
          </p:cNvPr>
          <p:cNvSpPr>
            <a:spLocks noGrp="1"/>
          </p:cNvSpPr>
          <p:nvPr/>
        </p:nvSpPr>
        <p:spPr>
          <a:xfrm>
            <a:off x="4495800" y="3048000"/>
            <a:ext cx="381000" cy="3810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C6B9F-C44B-49CF-83FA-170F382C2DD8}"/>
              </a:ext>
            </a:extLst>
          </p:cNvPr>
          <p:cNvSpPr>
            <a:spLocks noGrp="1"/>
          </p:cNvSpPr>
          <p:nvPr/>
        </p:nvSpPr>
        <p:spPr>
          <a:xfrm>
            <a:off x="462915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704C50-FA98-4340-AC8C-DE5E0D8EBD34}"/>
              </a:ext>
            </a:extLst>
          </p:cNvPr>
          <p:cNvSpPr>
            <a:spLocks noGrp="1"/>
          </p:cNvSpPr>
          <p:nvPr/>
        </p:nvSpPr>
        <p:spPr>
          <a:xfrm>
            <a:off x="504825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Configure rates and targets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BF5FB7-483F-45B7-A3B0-D75078045FB3}"/>
              </a:ext>
            </a:extLst>
          </p:cNvPr>
          <p:cNvSpPr>
            <a:spLocks noGrp="1"/>
          </p:cNvSpPr>
          <p:nvPr/>
        </p:nvSpPr>
        <p:spPr>
          <a:xfrm>
            <a:off x="449580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Adjust CPD, per diem, travel, meal, and budget target assumptions in one controlled location.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008062-F499-4762-94F2-4EA9E9C6925E}"/>
              </a:ext>
            </a:extLst>
          </p:cNvPr>
          <p:cNvSpPr>
            <a:spLocks noGrp="1"/>
          </p:cNvSpPr>
          <p:nvPr/>
        </p:nvSpPr>
        <p:spPr>
          <a:xfrm>
            <a:off x="7867650" y="2819400"/>
            <a:ext cx="33528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F6605A-9F83-471D-9191-066E4F9DF24A}"/>
              </a:ext>
            </a:extLst>
          </p:cNvPr>
          <p:cNvSpPr>
            <a:spLocks noGrp="1"/>
          </p:cNvSpPr>
          <p:nvPr/>
        </p:nvSpPr>
        <p:spPr>
          <a:xfrm>
            <a:off x="8096250" y="3048000"/>
            <a:ext cx="381000" cy="381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6B67AD-62A8-4C03-9FD2-8C64F32D1C23}"/>
              </a:ext>
            </a:extLst>
          </p:cNvPr>
          <p:cNvSpPr>
            <a:spLocks noGrp="1"/>
          </p:cNvSpPr>
          <p:nvPr/>
        </p:nvSpPr>
        <p:spPr>
          <a:xfrm>
            <a:off x="8229600" y="31527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794EAF-379D-497F-A3CD-DE1ACA2C2F1F}"/>
              </a:ext>
            </a:extLst>
          </p:cNvPr>
          <p:cNvSpPr>
            <a:spLocks noGrp="1"/>
          </p:cNvSpPr>
          <p:nvPr/>
        </p:nvSpPr>
        <p:spPr>
          <a:xfrm>
            <a:off x="8648700" y="30480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Build each unit page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257B4-659C-4A34-A85A-17E6A5D289D1}"/>
              </a:ext>
            </a:extLst>
          </p:cNvPr>
          <p:cNvSpPr>
            <a:spLocks noGrp="1"/>
          </p:cNvSpPr>
          <p:nvPr/>
        </p:nvSpPr>
        <p:spPr>
          <a:xfrm>
            <a:off x="8096250" y="356235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Enter PAX, locations, duty days, and detailed planning or execution inputs for each unit.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D3A1DFC-7420-4C73-8133-B44CE7A89898}"/>
              </a:ext>
            </a:extLst>
          </p:cNvPr>
          <p:cNvSpPr>
            <a:spLocks noGrp="1"/>
          </p:cNvSpPr>
          <p:nvPr/>
        </p:nvSpPr>
        <p:spPr>
          <a:xfrm>
            <a:off x="666750" y="4457700"/>
            <a:ext cx="5181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156D428-5CBD-49E5-B49E-79937530DD62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81000" cy="381000"/>
          </a:xfrm>
          <a:prstGeom prst="ellipse">
            <a:avLst/>
          </a:prstGeom>
          <a:solidFill>
            <a:srgbClr val="E6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A7691E-CD24-497D-B8D9-14D2DD9B7493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423034-D2A6-4832-B3C5-F437DA6A258F}"/>
              </a:ext>
            </a:extLst>
          </p:cNvPr>
          <p:cNvSpPr>
            <a:spLocks noGrp="1"/>
          </p:cNvSpPr>
          <p:nvPr/>
        </p:nvSpPr>
        <p:spPr>
          <a:xfrm>
            <a:off x="1447800" y="4686300"/>
            <a:ext cx="421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Review live rollups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140F44-C358-438A-9491-946101082412}"/>
              </a:ext>
            </a:extLst>
          </p:cNvPr>
          <p:cNvSpPr>
            <a:spLocks noGrp="1"/>
          </p:cNvSpPr>
          <p:nvPr/>
        </p:nvSpPr>
        <p:spPr>
          <a:xfrm>
            <a:off x="895350" y="5200650"/>
            <a:ext cx="4724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Dashboard, balance, and report views update automatically as soon as a planner changes data.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DF5F17B-59C8-4E8D-96EC-1D9EBC7ED276}"/>
              </a:ext>
            </a:extLst>
          </p:cNvPr>
          <p:cNvSpPr>
            <a:spLocks noGrp="1"/>
          </p:cNvSpPr>
          <p:nvPr/>
        </p:nvSpPr>
        <p:spPr>
          <a:xfrm>
            <a:off x="6096000" y="4457700"/>
            <a:ext cx="51816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AA7FCD-4365-45F1-A572-F1D2D8A1854C}"/>
              </a:ext>
            </a:extLst>
          </p:cNvPr>
          <p:cNvSpPr>
            <a:spLocks noGrp="1"/>
          </p:cNvSpPr>
          <p:nvPr/>
        </p:nvSpPr>
        <p:spPr>
          <a:xfrm>
            <a:off x="6324600" y="4686300"/>
            <a:ext cx="381000" cy="381000"/>
          </a:xfrm>
          <a:prstGeom prst="ellipse">
            <a:avLst/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88BE5C-2167-4214-BF56-C670B0AED858}"/>
              </a:ext>
            </a:extLst>
          </p:cNvPr>
          <p:cNvSpPr>
            <a:spLocks noGrp="1"/>
          </p:cNvSpPr>
          <p:nvPr/>
        </p:nvSpPr>
        <p:spPr>
          <a:xfrm>
            <a:off x="6457950" y="4791075"/>
            <a:ext cx="114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B1830"/>
                </a:solidFill>
              </a:defRPr>
            </a:pPr>
            <a:r>
              <a:rPr sz="900" b="1">
                <a:solidFill>
                  <a:srgbClr val="0B1830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EF309C-71E7-4FFE-847E-E89E23C8514C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21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Export and refine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0BCB17-55CB-4C1B-A865-1023DCD0730A}"/>
              </a:ext>
            </a:extLst>
          </p:cNvPr>
          <p:cNvSpPr>
            <a:spLocks noGrp="1"/>
          </p:cNvSpPr>
          <p:nvPr/>
        </p:nvSpPr>
        <p:spPr>
          <a:xfrm>
            <a:off x="6324600" y="5200650"/>
            <a:ext cx="47244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Use reports, print/PDF, Excel export, refinements, clear tools, and undo to support the briefing cycle.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7D36F7B-4DAF-4C52-9838-D5942B5A656A}"/>
              </a:ext>
            </a:extLst>
          </p:cNvPr>
          <p:cNvSpPr>
            <a:spLocks noGrp="1"/>
          </p:cNvSpPr>
          <p:nvPr/>
        </p:nvSpPr>
        <p:spPr>
          <a:xfrm>
            <a:off x="4000500" y="6019800"/>
            <a:ext cx="4095750" cy="247650"/>
          </a:xfrm>
          <a:prstGeom prst="rightArrow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1EC997-15BA-4A0F-B69C-5A10E02C86C6}"/>
              </a:ext>
            </a:extLst>
          </p:cNvPr>
          <p:cNvSpPr>
            <a:spLocks noGrp="1"/>
          </p:cNvSpPr>
          <p:nvPr/>
        </p:nvSpPr>
        <p:spPr>
          <a:xfrm>
            <a:off x="4210050" y="6057900"/>
            <a:ext cx="3714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Structured input -&gt; calculation engine -&gt; leadership-ready output</a:t>
            </a:r>
          </a:p>
        </p:txBody>
      </p:sp>
    </p:spTree>
    <p:extLst>
      <p:ext uri="{BB962C8B-B14F-4D97-AF65-F5344CB8AC3E}">
        <p14:creationId xmlns:p14="http://schemas.microsoft.com/office/powerpoint/2010/main" val="834038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3A339D7-0AB5-48D8-8866-F257727DDE1F}"/>
              </a:ext>
            </a:extLst>
          </p:cNvPr>
          <p:cNvSpPr>
            <a:spLocks noGrp="1"/>
          </p:cNvSpPr>
          <p:nvPr/>
        </p:nvSpPr>
        <p:spPr>
          <a:xfrm>
            <a:off x="-1047750" y="-762000"/>
            <a:ext cx="3429000" cy="3429000"/>
          </a:xfrm>
          <a:prstGeom prst="ellipse">
            <a:avLst/>
          </a:prstGeom>
          <a:solidFill>
            <a:srgbClr val="153A73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9C21E1-E209-4CD1-B779-80D6342D9DF7}"/>
              </a:ext>
            </a:extLst>
          </p:cNvPr>
          <p:cNvSpPr>
            <a:spLocks noGrp="1"/>
          </p:cNvSpPr>
          <p:nvPr/>
        </p:nvSpPr>
        <p:spPr>
          <a:xfrm>
            <a:off x="9620250" y="-1143000"/>
            <a:ext cx="3143250" cy="3143250"/>
          </a:xfrm>
          <a:prstGeom prst="ellipse">
            <a:avLst/>
          </a:prstGeom>
          <a:solidFill>
            <a:srgbClr val="1CB7A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5C81E3-5947-41AB-9D9E-EECE75775203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3619500" cy="3619500"/>
          </a:xfrm>
          <a:prstGeom prst="ellipse">
            <a:avLst/>
          </a:prstGeom>
          <a:solidFill>
            <a:srgbClr val="2B78FF">
              <a:alpha val="1254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6F26D-68AE-4147-9980-0B19BC4E074E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3B94D"/>
                </a:solidFill>
              </a:defRPr>
            </a:pPr>
            <a:r>
              <a:rPr sz="900" b="1">
                <a:solidFill>
                  <a:srgbClr val="F3B94D"/>
                </a:solidFill>
              </a:rPr>
              <a:t>WHY IT BEATS EXCEL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A018B-D337-46FD-A23F-664C3201E7D2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F3B94D"/>
                </a:solidFill>
              </a:defRPr>
            </a:pPr>
            <a:r>
              <a:rPr sz="900" b="1">
                <a:solidFill>
                  <a:srgbClr val="F3B94D"/>
                </a:solidFill>
              </a:rPr>
              <a:t>03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06864-74E9-465B-9A72-BDB7456FF931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Why It Is Better Than Using Excel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CAF211-A145-4010-9701-AD9A28BA496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2F0"/>
                </a:solidFill>
              </a:defRPr>
            </a:pPr>
            <a:r>
              <a:rPr sz="1350" b="0" dirty="0">
                <a:solidFill>
                  <a:srgbClr val="D8E2F0"/>
                </a:solidFill>
              </a:rPr>
              <a:t>Spreadsheet flexibility helps early on, but briefing-quality planning demands consistent logic, traceability, and faster scenario changes.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2E6B725-6B52-477E-AFF0-11E89D196680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30480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D2CB2B-4182-4D17-9BC7-DE68EA3152BF}"/>
              </a:ext>
            </a:extLst>
          </p:cNvPr>
          <p:cNvSpPr>
            <a:spLocks noGrp="1"/>
          </p:cNvSpPr>
          <p:nvPr/>
        </p:nvSpPr>
        <p:spPr>
          <a:xfrm>
            <a:off x="1409700" y="299085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Excel pain points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EDE75-B5D8-4DD8-AD13-C67AB4859771}"/>
              </a:ext>
            </a:extLst>
          </p:cNvPr>
          <p:cNvSpPr>
            <a:spLocks noGrp="1"/>
          </p:cNvSpPr>
          <p:nvPr/>
        </p:nvSpPr>
        <p:spPr>
          <a:xfrm>
            <a:off x="895350" y="3448050"/>
            <a:ext cx="25908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Version drift, hidden formulas, and manual rollups create friction exactly when the audience expects confidence and speed.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41675B-71DD-4CEA-B93C-EC84F3254BD9}"/>
              </a:ext>
            </a:extLst>
          </p:cNvPr>
          <p:cNvSpPr>
            <a:spLocks noGrp="1"/>
          </p:cNvSpPr>
          <p:nvPr/>
        </p:nvSpPr>
        <p:spPr>
          <a:xfrm>
            <a:off x="914400" y="4391025"/>
            <a:ext cx="76200" cy="76200"/>
          </a:xfrm>
          <a:prstGeom prst="ellipse">
            <a:avLst/>
          </a:prstGeom>
          <a:solidFill>
            <a:srgbClr val="1CB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1E5D37-A0DE-4451-9133-3F4FE18FC86E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Manual cross-sheet formulas are hard to defend live.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7EDC41-77DE-4817-A35C-7B0325256174}"/>
              </a:ext>
            </a:extLst>
          </p:cNvPr>
          <p:cNvSpPr>
            <a:spLocks noGrp="1"/>
          </p:cNvSpPr>
          <p:nvPr/>
        </p:nvSpPr>
        <p:spPr>
          <a:xfrm>
            <a:off x="914400" y="4848225"/>
            <a:ext cx="76200" cy="76200"/>
          </a:xfrm>
          <a:prstGeom prst="ellipse">
            <a:avLst/>
          </a:prstGeom>
          <a:solidFill>
            <a:srgbClr val="1CB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73B830-4F60-4B37-B228-F810A9F5490D}"/>
              </a:ext>
            </a:extLst>
          </p:cNvPr>
          <p:cNvSpPr>
            <a:spLocks noGrp="1"/>
          </p:cNvSpPr>
          <p:nvPr/>
        </p:nvSpPr>
        <p:spPr>
          <a:xfrm>
            <a:off x="1104900" y="47815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Scenario testing usually means copy, paste, and reformat.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8CEA04-CB5F-4BCD-8FD1-BB5AEFC09CD5}"/>
              </a:ext>
            </a:extLst>
          </p:cNvPr>
          <p:cNvSpPr>
            <a:spLocks noGrp="1"/>
          </p:cNvSpPr>
          <p:nvPr/>
        </p:nvSpPr>
        <p:spPr>
          <a:xfrm>
            <a:off x="914400" y="5305425"/>
            <a:ext cx="76200" cy="76200"/>
          </a:xfrm>
          <a:prstGeom prst="ellipse">
            <a:avLst/>
          </a:prstGeom>
          <a:solidFill>
            <a:srgbClr val="1CB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72B956-CDA7-40F5-B805-3DE08C7203BF}"/>
              </a:ext>
            </a:extLst>
          </p:cNvPr>
          <p:cNvSpPr>
            <a:spLocks noGrp="1"/>
          </p:cNvSpPr>
          <p:nvPr/>
        </p:nvSpPr>
        <p:spPr>
          <a:xfrm>
            <a:off x="1104900" y="52387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Leadership views often require a second workbook pass.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0FC390-96A2-41A0-B89D-19DA2D21F29C}"/>
              </a:ext>
            </a:extLst>
          </p:cNvPr>
          <p:cNvSpPr>
            <a:spLocks noGrp="1"/>
          </p:cNvSpPr>
          <p:nvPr/>
        </p:nvSpPr>
        <p:spPr>
          <a:xfrm>
            <a:off x="4000500" y="2781300"/>
            <a:ext cx="7524750" cy="3371850"/>
          </a:xfrm>
          <a:prstGeom prst="roundRect">
            <a:avLst>
              <a:gd name="adj" fmla="val 2260"/>
            </a:avLst>
          </a:prstGeom>
          <a:solidFill>
            <a:srgbClr val="11284B"/>
          </a:solidFill>
          <a:ln w="11430">
            <a:solidFill>
              <a:srgbClr val="29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7EB4DC-71E1-4C7D-96DD-AE9747ADB227}"/>
              </a:ext>
            </a:extLst>
          </p:cNvPr>
          <p:cNvSpPr>
            <a:spLocks noGrp="1"/>
          </p:cNvSpPr>
          <p:nvPr/>
        </p:nvSpPr>
        <p:spPr>
          <a:xfrm>
            <a:off x="4495800" y="30289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BFD1EA"/>
                </a:solidFill>
              </a:defRPr>
            </a:pPr>
            <a:r>
              <a:rPr sz="1050" b="1">
                <a:solidFill>
                  <a:srgbClr val="BFD1EA"/>
                </a:solidFill>
              </a:rPr>
              <a:t>Excel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B76973-CA13-460C-879F-7A48F2014545}"/>
              </a:ext>
            </a:extLst>
          </p:cNvPr>
          <p:cNvSpPr>
            <a:spLocks noGrp="1"/>
          </p:cNvSpPr>
          <p:nvPr/>
        </p:nvSpPr>
        <p:spPr>
          <a:xfrm>
            <a:off x="8572500" y="3028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 dirty="0">
                <a:solidFill>
                  <a:srgbClr val="FFFFFF"/>
                </a:solidFill>
              </a:rPr>
              <a:t>China Tracker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99F241-8F85-4AC0-AD08-6F89B46DECA3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72620C-6E5C-46EE-8233-078D0B867B37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Formula integrity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F9EE00-D7A1-4DDB-BC4A-8FEAB9C3029F}"/>
              </a:ext>
            </a:extLst>
          </p:cNvPr>
          <p:cNvSpPr>
            <a:spLocks noGrp="1"/>
          </p:cNvSpPr>
          <p:nvPr/>
        </p:nvSpPr>
        <p:spPr>
          <a:xfrm>
            <a:off x="3143250" y="34861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Manual links across tabs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E7E302-E723-4888-9BF0-4D14C02C5175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 dirty="0">
                <a:solidFill>
                  <a:srgbClr val="FFFFFF"/>
                </a:solidFill>
              </a:rPr>
              <a:t>Central calculation rules and structured inputs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847448-FAB3-4806-9DFA-9398C667A955}"/>
              </a:ext>
            </a:extLst>
          </p:cNvPr>
          <p:cNvSpPr>
            <a:spLocks noGrp="1"/>
          </p:cNvSpPr>
          <p:nvPr/>
        </p:nvSpPr>
        <p:spPr>
          <a:xfrm>
            <a:off x="666750" y="38290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86C9BF-56F1-43C3-922B-6943BC9F2FEB}"/>
              </a:ext>
            </a:extLst>
          </p:cNvPr>
          <p:cNvSpPr>
            <a:spLocks noGrp="1"/>
          </p:cNvSpPr>
          <p:nvPr/>
        </p:nvSpPr>
        <p:spPr>
          <a:xfrm>
            <a:off x="876300" y="40005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Speed to update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12648C-5768-4BAE-B6F3-E629D920BF92}"/>
              </a:ext>
            </a:extLst>
          </p:cNvPr>
          <p:cNvSpPr>
            <a:spLocks noGrp="1"/>
          </p:cNvSpPr>
          <p:nvPr/>
        </p:nvSpPr>
        <p:spPr>
          <a:xfrm>
            <a:off x="3143250" y="39433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Rework sheets and totals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B5A6A3-7E12-40FE-95E0-E019C9A589F5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 dirty="0">
                <a:solidFill>
                  <a:srgbClr val="FFFFFF"/>
                </a:solidFill>
              </a:rPr>
              <a:t>Every change recalculates immediately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831CCD-672F-4817-B174-144BC8DC1232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DD9B6C-BB95-45D9-A356-571D38ECE912}"/>
              </a:ext>
            </a:extLst>
          </p:cNvPr>
          <p:cNvSpPr>
            <a:spLocks noGrp="1"/>
          </p:cNvSpPr>
          <p:nvPr/>
        </p:nvSpPr>
        <p:spPr>
          <a:xfrm>
            <a:off x="876300" y="44577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Scenario testing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3C3BEF-ED90-40C7-B680-DBFC518BBFD7}"/>
              </a:ext>
            </a:extLst>
          </p:cNvPr>
          <p:cNvSpPr>
            <a:spLocks noGrp="1"/>
          </p:cNvSpPr>
          <p:nvPr/>
        </p:nvSpPr>
        <p:spPr>
          <a:xfrm>
            <a:off x="3143250" y="44005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Duplicate workbook versions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67D8B2-CB90-4673-AC40-F13166B198F1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Clear tools and undo support rapid what-ifs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1E8EF2C-F8C4-4493-B17B-2B92D5DA218D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92B5203-F79A-4A24-A0A1-297495B2C0E6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Traceability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617918-67EA-406D-95FF-8B0426EB1A63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Difficult lineage in the brief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D64A0E1-A81D-4C0F-A27A-04758BC06878}"/>
              </a:ext>
            </a:extLst>
          </p:cNvPr>
          <p:cNvSpPr>
            <a:spLocks noGrp="1"/>
          </p:cNvSpPr>
          <p:nvPr/>
        </p:nvSpPr>
        <p:spPr>
          <a:xfrm>
            <a:off x="7239000" y="48577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Costs stay grouped by unit, funding type, and section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57E60B3-9CA0-4814-83F3-4C662D7A3C84}"/>
              </a:ext>
            </a:extLst>
          </p:cNvPr>
          <p:cNvSpPr>
            <a:spLocks noGrp="1"/>
          </p:cNvSpPr>
          <p:nvPr/>
        </p:nvSpPr>
        <p:spPr>
          <a:xfrm>
            <a:off x="666750" y="52006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9A74804-4961-4A6A-B297-3A7F37FD6073}"/>
              </a:ext>
            </a:extLst>
          </p:cNvPr>
          <p:cNvSpPr>
            <a:spLocks noGrp="1"/>
          </p:cNvSpPr>
          <p:nvPr/>
        </p:nvSpPr>
        <p:spPr>
          <a:xfrm>
            <a:off x="876300" y="53721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Output readiness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EFDC71-340B-47A7-9188-379DB7608A6B}"/>
              </a:ext>
            </a:extLst>
          </p:cNvPr>
          <p:cNvSpPr>
            <a:spLocks noGrp="1"/>
          </p:cNvSpPr>
          <p:nvPr/>
        </p:nvSpPr>
        <p:spPr>
          <a:xfrm>
            <a:off x="3143250" y="53149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Manual cleanup before sharing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F1BF44C-F4FA-45FC-9DCD-F85E30974098}"/>
              </a:ext>
            </a:extLst>
          </p:cNvPr>
          <p:cNvSpPr>
            <a:spLocks noGrp="1"/>
          </p:cNvSpPr>
          <p:nvPr/>
        </p:nvSpPr>
        <p:spPr>
          <a:xfrm>
            <a:off x="7239000" y="53149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Reports, print/PDF, balance view, and Excel export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6918895-E756-49D8-BF07-388EF7218150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10858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61504C-8BFF-4C39-860C-33ACB08C89A9}"/>
              </a:ext>
            </a:extLst>
          </p:cNvPr>
          <p:cNvSpPr>
            <a:spLocks noGrp="1"/>
          </p:cNvSpPr>
          <p:nvPr/>
        </p:nvSpPr>
        <p:spPr>
          <a:xfrm>
            <a:off x="876300" y="5829300"/>
            <a:ext cx="2000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43B"/>
                </a:solidFill>
              </a:defRPr>
            </a:pPr>
            <a:r>
              <a:rPr sz="1125" b="1">
                <a:solidFill>
                  <a:srgbClr val="13243B"/>
                </a:solidFill>
              </a:rPr>
              <a:t>Team continuity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760F6F-0C34-4AB2-A3AA-8F831A7C529B}"/>
              </a:ext>
            </a:extLst>
          </p:cNvPr>
          <p:cNvSpPr>
            <a:spLocks noGrp="1"/>
          </p:cNvSpPr>
          <p:nvPr/>
        </p:nvSpPr>
        <p:spPr>
          <a:xfrm>
            <a:off x="3143250" y="57721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8EEF8"/>
                </a:solidFill>
              </a:defRPr>
            </a:pPr>
            <a:r>
              <a:rPr sz="1050" b="0">
                <a:solidFill>
                  <a:srgbClr val="E8EEF8"/>
                </a:solidFill>
              </a:rPr>
              <a:t>Depends on workbook knowledge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B184FB-C2AC-403F-990F-3AD604D9B63C}"/>
              </a:ext>
            </a:extLst>
          </p:cNvPr>
          <p:cNvSpPr>
            <a:spLocks noGrp="1"/>
          </p:cNvSpPr>
          <p:nvPr/>
        </p:nvSpPr>
        <p:spPr>
          <a:xfrm>
            <a:off x="7239000" y="57721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Saved exercises with consistent application flow</a:t>
            </a:r>
          </a:p>
        </p:txBody>
      </p:sp>
    </p:spTree>
    <p:extLst>
      <p:ext uri="{BB962C8B-B14F-4D97-AF65-F5344CB8AC3E}">
        <p14:creationId xmlns:p14="http://schemas.microsoft.com/office/powerpoint/2010/main" val="328988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BD8DB2A-4ED3-4CDA-B5E6-9716B10004A0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3FA065-B9F2-4E13-9715-77A67AFD68F1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3CA0A3-3E90-4E44-B2D2-2E265CAA6AE9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4754E-9152-4604-BAB2-1D2ADEA0756B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MAIN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D2063-A125-425F-A311-1FB1F6C0E422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04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1123CC-3DE4-4CD5-A606-114481AA5493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Main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96567E-E133-461B-9722-DB4E316E50A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application combines executive visibility, detailed planning controls, and briefing output in one connected workflow.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9F0F31-FFF8-4D0C-A48F-E4C2893C51ED}"/>
              </a:ext>
            </a:extLst>
          </p:cNvPr>
          <p:cNvSpPr>
            <a:spLocks noGrp="1"/>
          </p:cNvSpPr>
          <p:nvPr/>
        </p:nvSpPr>
        <p:spPr>
          <a:xfrm>
            <a:off x="66675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EF90B7-896B-433D-9A82-71E83A117FA6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90741-72FC-4741-8F18-BFD38BD23A15}"/>
              </a:ext>
            </a:extLst>
          </p:cNvPr>
          <p:cNvSpPr>
            <a:spLocks noGrp="1"/>
          </p:cNvSpPr>
          <p:nvPr/>
        </p:nvSpPr>
        <p:spPr>
          <a:xfrm>
            <a:off x="83820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LIVE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9AEB8-32E6-4774-969F-12D38474C9C9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Real-time rollups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963941-E849-486F-A534-5467FABBF206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Grand total, RPA, O&amp;M, and PAX update immediately as users change any planning input.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D91EFF-97C3-4711-B47D-DEBD1C69CE51}"/>
              </a:ext>
            </a:extLst>
          </p:cNvPr>
          <p:cNvSpPr>
            <a:spLocks noGrp="1"/>
          </p:cNvSpPr>
          <p:nvPr/>
        </p:nvSpPr>
        <p:spPr>
          <a:xfrm>
            <a:off x="426720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9CB15B-25EC-4F35-B8C5-9588F0CB1D7C}"/>
              </a:ext>
            </a:extLst>
          </p:cNvPr>
          <p:cNvSpPr>
            <a:spLocks noGrp="1"/>
          </p:cNvSpPr>
          <p:nvPr/>
        </p:nvSpPr>
        <p:spPr>
          <a:xfrm>
            <a:off x="443865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2966D-1576-4517-BD45-A8ECD4E05EC5}"/>
              </a:ext>
            </a:extLst>
          </p:cNvPr>
          <p:cNvSpPr>
            <a:spLocks noGrp="1"/>
          </p:cNvSpPr>
          <p:nvPr/>
        </p:nvSpPr>
        <p:spPr>
          <a:xfrm>
            <a:off x="443865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UNIT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30B527-123A-4DCC-BC0F-953FB92E5FED}"/>
              </a:ext>
            </a:extLst>
          </p:cNvPr>
          <p:cNvSpPr>
            <a:spLocks noGrp="1"/>
          </p:cNvSpPr>
          <p:nvPr/>
        </p:nvSpPr>
        <p:spPr>
          <a:xfrm>
            <a:off x="443865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Unit-specific planning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E2F0FE-3A40-476B-A6FC-23D5CF2E9A38}"/>
              </a:ext>
            </a:extLst>
          </p:cNvPr>
          <p:cNvSpPr>
            <a:spLocks noGrp="1"/>
          </p:cNvSpPr>
          <p:nvPr/>
        </p:nvSpPr>
        <p:spPr>
          <a:xfrm>
            <a:off x="443865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SG, AE, CAB, and A7 each have purpose-built sections for planning, players, white cell, and support logic.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DC39179-F4E6-48D2-A8C5-66CA32A51F0F}"/>
              </a:ext>
            </a:extLst>
          </p:cNvPr>
          <p:cNvSpPr>
            <a:spLocks noGrp="1"/>
          </p:cNvSpPr>
          <p:nvPr/>
        </p:nvSpPr>
        <p:spPr>
          <a:xfrm>
            <a:off x="7867650" y="280035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304D29-72F6-4A85-B70F-51F5B78F3A75}"/>
              </a:ext>
            </a:extLst>
          </p:cNvPr>
          <p:cNvSpPr>
            <a:spLocks noGrp="1"/>
          </p:cNvSpPr>
          <p:nvPr/>
        </p:nvSpPr>
        <p:spPr>
          <a:xfrm>
            <a:off x="8039100" y="297180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80B984-8CCC-4022-948B-571E69CE396C}"/>
              </a:ext>
            </a:extLst>
          </p:cNvPr>
          <p:cNvSpPr>
            <a:spLocks noGrp="1"/>
          </p:cNvSpPr>
          <p:nvPr/>
        </p:nvSpPr>
        <p:spPr>
          <a:xfrm>
            <a:off x="8039100" y="304800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E69D5E-DBF6-4E60-8980-0BB7874903B6}"/>
              </a:ext>
            </a:extLst>
          </p:cNvPr>
          <p:cNvSpPr>
            <a:spLocks noGrp="1"/>
          </p:cNvSpPr>
          <p:nvPr/>
        </p:nvSpPr>
        <p:spPr>
          <a:xfrm>
            <a:off x="8039100" y="342900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Rate configuration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AC8A3C-6E0A-4C1A-A987-BE299B452E64}"/>
              </a:ext>
            </a:extLst>
          </p:cNvPr>
          <p:cNvSpPr>
            <a:spLocks noGrp="1"/>
          </p:cNvSpPr>
          <p:nvPr/>
        </p:nvSpPr>
        <p:spPr>
          <a:xfrm>
            <a:off x="8039100" y="377190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CPD, per diem, meals, airfare, rental assumptions, and budget targets are maintained centrally.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D619D3-0E21-4933-9218-0068DD5B063D}"/>
              </a:ext>
            </a:extLst>
          </p:cNvPr>
          <p:cNvSpPr>
            <a:spLocks noGrp="1"/>
          </p:cNvSpPr>
          <p:nvPr/>
        </p:nvSpPr>
        <p:spPr>
          <a:xfrm>
            <a:off x="66675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0D72CED-5FBD-4789-A928-15D8EB40A6F1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E8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0FF29A-B8BC-43D4-BDF4-8661A3F53F2E}"/>
              </a:ext>
            </a:extLst>
          </p:cNvPr>
          <p:cNvSpPr>
            <a:spLocks noGrp="1"/>
          </p:cNvSpPr>
          <p:nvPr/>
        </p:nvSpPr>
        <p:spPr>
          <a:xfrm>
            <a:off x="83820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RPT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23A890-0F31-4CCA-826F-38A21D802F7A}"/>
              </a:ext>
            </a:extLst>
          </p:cNvPr>
          <p:cNvSpPr>
            <a:spLocks noGrp="1"/>
          </p:cNvSpPr>
          <p:nvPr/>
        </p:nvSpPr>
        <p:spPr>
          <a:xfrm>
            <a:off x="83820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Reporting and export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12D706-A236-41D3-83F3-C6ED403C3D1A}"/>
              </a:ext>
            </a:extLst>
          </p:cNvPr>
          <p:cNvSpPr>
            <a:spLocks noGrp="1"/>
          </p:cNvSpPr>
          <p:nvPr/>
        </p:nvSpPr>
        <p:spPr>
          <a:xfrm>
            <a:off x="83820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Balance, print/PDF, and Excel output make the same live data ready for briefings and follow-on documents.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FE8888E-5DFC-49CA-8F28-A668E6EDCAF1}"/>
              </a:ext>
            </a:extLst>
          </p:cNvPr>
          <p:cNvSpPr>
            <a:spLocks noGrp="1"/>
          </p:cNvSpPr>
          <p:nvPr/>
        </p:nvSpPr>
        <p:spPr>
          <a:xfrm>
            <a:off x="426720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DA0AFE6-782A-459D-9B7C-2B8EC81316B1}"/>
              </a:ext>
            </a:extLst>
          </p:cNvPr>
          <p:cNvSpPr>
            <a:spLocks noGrp="1"/>
          </p:cNvSpPr>
          <p:nvPr/>
        </p:nvSpPr>
        <p:spPr>
          <a:xfrm>
            <a:off x="443865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B0EEE7-22DF-4F5B-95DA-A33809F6E343}"/>
              </a:ext>
            </a:extLst>
          </p:cNvPr>
          <p:cNvSpPr>
            <a:spLocks noGrp="1"/>
          </p:cNvSpPr>
          <p:nvPr/>
        </p:nvSpPr>
        <p:spPr>
          <a:xfrm>
            <a:off x="443865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406BA6-A97E-4ECE-8DE8-D2BA54D267C3}"/>
              </a:ext>
            </a:extLst>
          </p:cNvPr>
          <p:cNvSpPr>
            <a:spLocks noGrp="1"/>
          </p:cNvSpPr>
          <p:nvPr/>
        </p:nvSpPr>
        <p:spPr>
          <a:xfrm>
            <a:off x="443865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Refinements workspace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54FE76-24E8-4FB8-9F39-C5CFB114B49C}"/>
              </a:ext>
            </a:extLst>
          </p:cNvPr>
          <p:cNvSpPr>
            <a:spLocks noGrp="1"/>
          </p:cNvSpPr>
          <p:nvPr/>
        </p:nvSpPr>
        <p:spPr>
          <a:xfrm>
            <a:off x="443865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Improvement notes, status tracking, and follow-up context live inside the app instead of in side notes.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1AB3DB2-8CEF-4406-BECD-5255C8BDDEE1}"/>
              </a:ext>
            </a:extLst>
          </p:cNvPr>
          <p:cNvSpPr>
            <a:spLocks noGrp="1"/>
          </p:cNvSpPr>
          <p:nvPr/>
        </p:nvSpPr>
        <p:spPr>
          <a:xfrm>
            <a:off x="7867650" y="4533900"/>
            <a:ext cx="3352800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599352-80EA-47F4-85B8-7DD111F8C557}"/>
              </a:ext>
            </a:extLst>
          </p:cNvPr>
          <p:cNvSpPr>
            <a:spLocks noGrp="1"/>
          </p:cNvSpPr>
          <p:nvPr/>
        </p:nvSpPr>
        <p:spPr>
          <a:xfrm>
            <a:off x="8039100" y="4705350"/>
            <a:ext cx="53340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0A9E4F-6264-4292-A552-6D6DF641DF8B}"/>
              </a:ext>
            </a:extLst>
          </p:cNvPr>
          <p:cNvSpPr>
            <a:spLocks noGrp="1"/>
          </p:cNvSpPr>
          <p:nvPr/>
        </p:nvSpPr>
        <p:spPr>
          <a:xfrm>
            <a:off x="8039100" y="4781550"/>
            <a:ext cx="5334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SAFE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A21D12-C76E-4002-A521-F5855F50A383}"/>
              </a:ext>
            </a:extLst>
          </p:cNvPr>
          <p:cNvSpPr>
            <a:spLocks noGrp="1"/>
          </p:cNvSpPr>
          <p:nvPr/>
        </p:nvSpPr>
        <p:spPr>
          <a:xfrm>
            <a:off x="8039100" y="51625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Safety controls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45A97C-BD2F-42F5-A5DE-B910DAF02477}"/>
              </a:ext>
            </a:extLst>
          </p:cNvPr>
          <p:cNvSpPr>
            <a:spLocks noGrp="1"/>
          </p:cNvSpPr>
          <p:nvPr/>
        </p:nvSpPr>
        <p:spPr>
          <a:xfrm>
            <a:off x="8039100" y="5505450"/>
            <a:ext cx="3009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16177"/>
                </a:solidFill>
              </a:defRPr>
            </a:pPr>
            <a:r>
              <a:rPr sz="1125" b="0">
                <a:solidFill>
                  <a:srgbClr val="516177"/>
                </a:solidFill>
              </a:rPr>
              <a:t>Section clear, unit clear, authenticated persistence, and 10-step undo reduce the risk of bad edits during preparation.</a:t>
            </a:r>
          </a:p>
        </p:txBody>
      </p:sp>
    </p:spTree>
    <p:extLst>
      <p:ext uri="{BB962C8B-B14F-4D97-AF65-F5344CB8AC3E}">
        <p14:creationId xmlns:p14="http://schemas.microsoft.com/office/powerpoint/2010/main" val="69182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1926800-4275-4AD2-93D5-23302A3DD2C4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787DEA5-FDC9-4EFA-873B-681020AC56B6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1BAC54-B421-4F73-B358-C9EE9A47D3C1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584AF5-C900-4D84-8DC2-ABB20171F279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2B5CAC-80B7-4120-A7BF-EE3BDEDAE066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05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E4B05-7FDF-47C0-82F4-0D98F758C957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Executive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FE96D-51AC-4F30-AD4F-88470B49EA4A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Leadership can immediately see total cost, funding split, PAX, and unit-level impact from one screen.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4B881-F3AB-4891-9F59-7987B5ACB9D2}"/>
              </a:ext>
            </a:extLst>
          </p:cNvPr>
          <p:cNvSpPr>
            <a:spLocks noGrp="1"/>
          </p:cNvSpPr>
          <p:nvPr/>
        </p:nvSpPr>
        <p:spPr>
          <a:xfrm>
            <a:off x="4095750" y="2076450"/>
            <a:ext cx="7524750" cy="4267200"/>
          </a:xfrm>
          <a:prstGeom prst="roundRect">
            <a:avLst>
              <a:gd name="adj" fmla="val 1786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BC07F7-0FE0-4762-97BB-039500C73F25}"/>
              </a:ext>
            </a:extLst>
          </p:cNvPr>
          <p:cNvSpPr>
            <a:spLocks noGrp="1"/>
          </p:cNvSpPr>
          <p:nvPr/>
        </p:nvSpPr>
        <p:spPr>
          <a:xfrm>
            <a:off x="3981450" y="2057400"/>
            <a:ext cx="7524750" cy="4267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1834B9-4373-4B44-9688-31188DC86921}"/>
              </a:ext>
            </a:extLst>
          </p:cNvPr>
          <p:cNvSpPr>
            <a:spLocks noGrp="1"/>
          </p:cNvSpPr>
          <p:nvPr/>
        </p:nvSpPr>
        <p:spPr>
          <a:xfrm>
            <a:off x="4152900" y="2076450"/>
            <a:ext cx="721995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D123D4-9F6B-4986-B76A-55F91E611AC0}"/>
              </a:ext>
            </a:extLst>
          </p:cNvPr>
          <p:cNvSpPr>
            <a:spLocks noGrp="1"/>
          </p:cNvSpPr>
          <p:nvPr/>
        </p:nvSpPr>
        <p:spPr>
          <a:xfrm>
            <a:off x="4267200" y="216217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BFC352-D440-4DCD-8AE2-1CB95BDEADF8}"/>
              </a:ext>
            </a:extLst>
          </p:cNvPr>
          <p:cNvSpPr>
            <a:spLocks noGrp="1"/>
          </p:cNvSpPr>
          <p:nvPr/>
        </p:nvSpPr>
        <p:spPr>
          <a:xfrm>
            <a:off x="4400550" y="216217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549F66-01DF-4470-8931-3F23ABBDAD03}"/>
              </a:ext>
            </a:extLst>
          </p:cNvPr>
          <p:cNvSpPr>
            <a:spLocks noGrp="1"/>
          </p:cNvSpPr>
          <p:nvPr/>
        </p:nvSpPr>
        <p:spPr>
          <a:xfrm>
            <a:off x="4533900" y="216217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62475" y="2438400"/>
            <a:ext cx="6400800" cy="360045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EF7897-8BFC-4F29-B7F6-33E4275F6825}"/>
              </a:ext>
            </a:extLst>
          </p:cNvPr>
          <p:cNvSpPr>
            <a:spLocks noGrp="1"/>
          </p:cNvSpPr>
          <p:nvPr/>
        </p:nvSpPr>
        <p:spPr>
          <a:xfrm>
            <a:off x="4171950" y="59436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E22FD5-6C32-4397-A11C-83353CFD4F83}"/>
              </a:ext>
            </a:extLst>
          </p:cNvPr>
          <p:cNvSpPr>
            <a:spLocks noGrp="1"/>
          </p:cNvSpPr>
          <p:nvPr/>
        </p:nvSpPr>
        <p:spPr>
          <a:xfrm>
            <a:off x="4305300" y="60102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915B13-EA78-417B-9B83-0E124353E919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AAC7C7-A0AB-43DD-824F-C8189AED893C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At-a-glance totals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FFB04A-3A7C-423C-9B46-4F66ED60C4F1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Grand Total, RPA, O&amp;M, and PAX are visible immediately at the top of the screen.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AB7B0B-36DB-4C94-8688-2D7691E6087E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810C9F-3EDC-471E-A9AC-3AE8E8056A88}"/>
              </a:ext>
            </a:extLst>
          </p:cNvPr>
          <p:cNvSpPr>
            <a:spLocks noGrp="1"/>
          </p:cNvSpPr>
          <p:nvPr/>
        </p:nvSpPr>
        <p:spPr>
          <a:xfrm>
            <a:off x="819150" y="35052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Executive briefing table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DE049-F56B-4B3D-BCA7-D86901180F52}"/>
              </a:ext>
            </a:extLst>
          </p:cNvPr>
          <p:cNvSpPr>
            <a:spLocks noGrp="1"/>
          </p:cNvSpPr>
          <p:nvPr/>
        </p:nvSpPr>
        <p:spPr>
          <a:xfrm>
            <a:off x="819150" y="37147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Unit-level totals summarize how SG, AE, CAB, and A7 each contribute to the overall cost picture.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34886C1-BEED-43FE-BC8F-86782E30999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EF085C-BE35-4B39-98DC-95686C54C3AA}"/>
              </a:ext>
            </a:extLst>
          </p:cNvPr>
          <p:cNvSpPr>
            <a:spLocks noGrp="1"/>
          </p:cNvSpPr>
          <p:nvPr/>
        </p:nvSpPr>
        <p:spPr>
          <a:xfrm>
            <a:off x="819150" y="44958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Visual comparison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9F6F74-ECD3-4D21-B861-5266D5A2C433}"/>
              </a:ext>
            </a:extLst>
          </p:cNvPr>
          <p:cNvSpPr>
            <a:spLocks noGrp="1"/>
          </p:cNvSpPr>
          <p:nvPr/>
        </p:nvSpPr>
        <p:spPr>
          <a:xfrm>
            <a:off x="819150" y="47053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Charts make the funding mix and cost distribution easier to explain in a live room.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F6F381-F05B-436C-BEBA-0C1C98293EE5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28575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6E4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8BBD42-5D92-43B0-BB28-5C4EF3893D8C}"/>
              </a:ext>
            </a:extLst>
          </p:cNvPr>
          <p:cNvSpPr>
            <a:spLocks noGrp="1"/>
          </p:cNvSpPr>
          <p:nvPr/>
        </p:nvSpPr>
        <p:spPr>
          <a:xfrm>
            <a:off x="819150" y="5486400"/>
            <a:ext cx="2552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Fast scenario review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14F9C5-45F4-4FB6-A3DE-A071FADEE3FB}"/>
              </a:ext>
            </a:extLst>
          </p:cNvPr>
          <p:cNvSpPr>
            <a:spLocks noGrp="1"/>
          </p:cNvSpPr>
          <p:nvPr/>
        </p:nvSpPr>
        <p:spPr>
          <a:xfrm>
            <a:off x="819150" y="5695950"/>
            <a:ext cx="2552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43B"/>
                </a:solidFill>
              </a:defRPr>
            </a:pPr>
            <a:r>
              <a:rPr sz="1050" b="0">
                <a:solidFill>
                  <a:srgbClr val="13243B"/>
                </a:solidFill>
              </a:rPr>
              <a:t>A planner can update assumptions and keep leadership oriented without leaving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70338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ABA6FA2-0696-4B4A-97CA-BF1493DEA8BC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ABCDDF6-C0DD-4DA9-A31F-07855B410635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7D7CAE7-C990-4527-8BB6-2817BE1FFDC7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F6F69E-92E3-4271-8F85-535EA6A65787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LIVE DEMONSTRATION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F9368-99F4-44B0-B206-00C3240D8BDC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06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00F7AC-FBCE-4320-8708-E4CDE8FE45AC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Live Demonstration: From Unit Entry to Reporting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2B183-3482-4434-9AA1-91F1B17A1EE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same data drives detailed unit planning, report generation, and the refinements loop.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056E52-C9D4-44A5-BA58-D88B652C5C6B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6286500" cy="3752850"/>
          </a:xfrm>
          <a:prstGeom prst="roundRect">
            <a:avLst>
              <a:gd name="adj" fmla="val 2030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FDEABE-A34A-4A7A-B259-E99166E753A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6286500" cy="375285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B0B9BF-9E8B-4378-B316-8400007D1D6D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59817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B1F246-03FA-4FEA-899C-4AE428A809F6}"/>
              </a:ext>
            </a:extLst>
          </p:cNvPr>
          <p:cNvSpPr>
            <a:spLocks noGrp="1"/>
          </p:cNvSpPr>
          <p:nvPr/>
        </p:nvSpPr>
        <p:spPr>
          <a:xfrm>
            <a:off x="933450" y="26003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2FE8C8-1490-44DE-9987-EFB75906EFC0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CCA84E-9148-4715-A933-C1C435C26F2B}"/>
              </a:ext>
            </a:extLst>
          </p:cNvPr>
          <p:cNvSpPr>
            <a:spLocks noGrp="1"/>
          </p:cNvSpPr>
          <p:nvPr/>
        </p:nvSpPr>
        <p:spPr>
          <a:xfrm>
            <a:off x="1200150" y="26003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800" y="2876550"/>
            <a:ext cx="5486400" cy="30861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4038BD4-5A06-4C2B-B3AC-ACA44958AF41}"/>
              </a:ext>
            </a:extLst>
          </p:cNvPr>
          <p:cNvSpPr>
            <a:spLocks noGrp="1"/>
          </p:cNvSpPr>
          <p:nvPr/>
        </p:nvSpPr>
        <p:spPr>
          <a:xfrm>
            <a:off x="838200" y="58674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EE50A8-F9D4-4877-A5F4-23560749CEAB}"/>
              </a:ext>
            </a:extLst>
          </p:cNvPr>
          <p:cNvSpPr>
            <a:spLocks noGrp="1"/>
          </p:cNvSpPr>
          <p:nvPr/>
        </p:nvSpPr>
        <p:spPr>
          <a:xfrm>
            <a:off x="971550" y="59340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Unit Planning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64CA6F-4883-4071-A80F-5EC553156597}"/>
              </a:ext>
            </a:extLst>
          </p:cNvPr>
          <p:cNvSpPr>
            <a:spLocks noGrp="1"/>
          </p:cNvSpPr>
          <p:nvPr/>
        </p:nvSpPr>
        <p:spPr>
          <a:xfrm>
            <a:off x="7429500" y="251460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AB1D3F-0D69-41AE-BE87-07A9CBEF8907}"/>
              </a:ext>
            </a:extLst>
          </p:cNvPr>
          <p:cNvSpPr>
            <a:spLocks noGrp="1"/>
          </p:cNvSpPr>
          <p:nvPr/>
        </p:nvSpPr>
        <p:spPr>
          <a:xfrm>
            <a:off x="7334250" y="238125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CF249B-7F69-428E-B46D-10A5841ABB12}"/>
              </a:ext>
            </a:extLst>
          </p:cNvPr>
          <p:cNvSpPr>
            <a:spLocks noGrp="1"/>
          </p:cNvSpPr>
          <p:nvPr/>
        </p:nvSpPr>
        <p:spPr>
          <a:xfrm>
            <a:off x="7486650" y="2514600"/>
            <a:ext cx="3886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A2DB0A-A2F5-410A-A3AB-6C3879F8D283}"/>
              </a:ext>
            </a:extLst>
          </p:cNvPr>
          <p:cNvSpPr>
            <a:spLocks noGrp="1"/>
          </p:cNvSpPr>
          <p:nvPr/>
        </p:nvSpPr>
        <p:spPr>
          <a:xfrm>
            <a:off x="7600950" y="26003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F6A6F0-465E-48D5-ADE1-474DB8AA80B6}"/>
              </a:ext>
            </a:extLst>
          </p:cNvPr>
          <p:cNvSpPr>
            <a:spLocks noGrp="1"/>
          </p:cNvSpPr>
          <p:nvPr/>
        </p:nvSpPr>
        <p:spPr>
          <a:xfrm>
            <a:off x="7734300" y="26003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52F75F-DE3F-487C-B583-1A55859AAD3E}"/>
              </a:ext>
            </a:extLst>
          </p:cNvPr>
          <p:cNvSpPr>
            <a:spLocks noGrp="1"/>
          </p:cNvSpPr>
          <p:nvPr/>
        </p:nvSpPr>
        <p:spPr>
          <a:xfrm>
            <a:off x="7867650" y="26003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47617" y="2876550"/>
            <a:ext cx="1964267" cy="1104900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B9B47-B820-4E65-8A81-BD257C585118}"/>
              </a:ext>
            </a:extLst>
          </p:cNvPr>
          <p:cNvSpPr>
            <a:spLocks noGrp="1"/>
          </p:cNvSpPr>
          <p:nvPr/>
        </p:nvSpPr>
        <p:spPr>
          <a:xfrm>
            <a:off x="7505700" y="38862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269063-403E-4BF1-818B-11A0E51BBD3D}"/>
              </a:ext>
            </a:extLst>
          </p:cNvPr>
          <p:cNvSpPr>
            <a:spLocks noGrp="1"/>
          </p:cNvSpPr>
          <p:nvPr/>
        </p:nvSpPr>
        <p:spPr>
          <a:xfrm>
            <a:off x="7639050" y="39528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2888BB-E575-4A19-8157-AC6C1CF83481}"/>
              </a:ext>
            </a:extLst>
          </p:cNvPr>
          <p:cNvSpPr>
            <a:spLocks noGrp="1"/>
          </p:cNvSpPr>
          <p:nvPr/>
        </p:nvSpPr>
        <p:spPr>
          <a:xfrm>
            <a:off x="7429500" y="449580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0B1830">
              <a:alpha val="3019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1304FD1-16C8-4B09-8205-319E7D4980A7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4191000" cy="177165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0478">
            <a:solidFill>
              <a:srgbClr val="CA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849F26-C387-4D99-8CF3-2E525AA1D12B}"/>
              </a:ext>
            </a:extLst>
          </p:cNvPr>
          <p:cNvSpPr>
            <a:spLocks noGrp="1"/>
          </p:cNvSpPr>
          <p:nvPr/>
        </p:nvSpPr>
        <p:spPr>
          <a:xfrm>
            <a:off x="7486650" y="4495800"/>
            <a:ext cx="3886200" cy="247650"/>
          </a:xfrm>
          <a:prstGeom prst="roundRect">
            <a:avLst>
              <a:gd name="adj" fmla="val 30769"/>
            </a:avLst>
          </a:prstGeom>
          <a:solidFill>
            <a:srgbClr val="EEF4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627063-29E3-4D29-A3B0-BA2B5DD1582D}"/>
              </a:ext>
            </a:extLst>
          </p:cNvPr>
          <p:cNvSpPr>
            <a:spLocks noGrp="1"/>
          </p:cNvSpPr>
          <p:nvPr/>
        </p:nvSpPr>
        <p:spPr>
          <a:xfrm>
            <a:off x="7600950" y="4581525"/>
            <a:ext cx="76200" cy="76200"/>
          </a:xfrm>
          <a:prstGeom prst="ellipse">
            <a:avLst/>
          </a:prstGeom>
          <a:solidFill>
            <a:srgbClr val="FF7B6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1A69E93-9171-4EAF-9011-3F3D772E38B9}"/>
              </a:ext>
            </a:extLst>
          </p:cNvPr>
          <p:cNvSpPr>
            <a:spLocks noGrp="1"/>
          </p:cNvSpPr>
          <p:nvPr/>
        </p:nvSpPr>
        <p:spPr>
          <a:xfrm>
            <a:off x="7734300" y="4581525"/>
            <a:ext cx="76200" cy="76200"/>
          </a:xfrm>
          <a:prstGeom prst="ellipse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FD67BCB-D361-48AF-9844-61C994585EEE}"/>
              </a:ext>
            </a:extLst>
          </p:cNvPr>
          <p:cNvSpPr>
            <a:spLocks noGrp="1"/>
          </p:cNvSpPr>
          <p:nvPr/>
        </p:nvSpPr>
        <p:spPr>
          <a:xfrm>
            <a:off x="7867650" y="4581525"/>
            <a:ext cx="76200" cy="76200"/>
          </a:xfrm>
          <a:prstGeom prst="ellipse">
            <a:avLst/>
          </a:prstGeom>
          <a:solidFill>
            <a:srgbClr val="2F9E6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47617" y="4857750"/>
            <a:ext cx="1964267" cy="11049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723F04C-8B1A-4569-B43D-02FC7D357936}"/>
              </a:ext>
            </a:extLst>
          </p:cNvPr>
          <p:cNvSpPr>
            <a:spLocks noGrp="1"/>
          </p:cNvSpPr>
          <p:nvPr/>
        </p:nvSpPr>
        <p:spPr>
          <a:xfrm>
            <a:off x="7505700" y="58674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0B183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4EB9F9-AAD7-4A87-B14C-817F8C9352A7}"/>
              </a:ext>
            </a:extLst>
          </p:cNvPr>
          <p:cNvSpPr>
            <a:spLocks noGrp="1"/>
          </p:cNvSpPr>
          <p:nvPr/>
        </p:nvSpPr>
        <p:spPr>
          <a:xfrm>
            <a:off x="7639050" y="5934075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Refinements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A34BF74-0BF1-437B-8C93-4BD1C66D6DAE}"/>
              </a:ext>
            </a:extLst>
          </p:cNvPr>
          <p:cNvSpPr>
            <a:spLocks noGrp="1"/>
          </p:cNvSpPr>
          <p:nvPr/>
        </p:nvSpPr>
        <p:spPr>
          <a:xfrm>
            <a:off x="857250" y="58293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EEEC591-ACD7-49C2-A944-5BC58AB37568}"/>
              </a:ext>
            </a:extLst>
          </p:cNvPr>
          <p:cNvSpPr>
            <a:spLocks noGrp="1"/>
          </p:cNvSpPr>
          <p:nvPr/>
        </p:nvSpPr>
        <p:spPr>
          <a:xfrm>
            <a:off x="990600" y="5895975"/>
            <a:ext cx="135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ENTER COST DRIVERS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762315-01D3-47DB-8E5E-675D9C35DA71}"/>
              </a:ext>
            </a:extLst>
          </p:cNvPr>
          <p:cNvSpPr>
            <a:spLocks noGrp="1"/>
          </p:cNvSpPr>
          <p:nvPr/>
        </p:nvSpPr>
        <p:spPr>
          <a:xfrm>
            <a:off x="2590800" y="57912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177"/>
                </a:solidFill>
              </a:defRPr>
            </a:pPr>
            <a:r>
              <a:rPr sz="975" b="0">
                <a:solidFill>
                  <a:srgbClr val="516177"/>
                </a:solidFill>
              </a:rPr>
              <a:t>Unit pages let users work at the level planners actually need: section totals, duty days, locations, contracts, and execution costs.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2CF8A6E-8932-4CAA-9785-097B63144E20}"/>
              </a:ext>
            </a:extLst>
          </p:cNvPr>
          <p:cNvSpPr>
            <a:spLocks noGrp="1"/>
          </p:cNvSpPr>
          <p:nvPr/>
        </p:nvSpPr>
        <p:spPr>
          <a:xfrm>
            <a:off x="7524750" y="58293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710D8E5-7EB7-4B0F-BA1E-6D0BEF018913}"/>
              </a:ext>
            </a:extLst>
          </p:cNvPr>
          <p:cNvSpPr>
            <a:spLocks noGrp="1"/>
          </p:cNvSpPr>
          <p:nvPr/>
        </p:nvSpPr>
        <p:spPr>
          <a:xfrm>
            <a:off x="7658100" y="58959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BRIEF + FOLLOW UP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30196C-7A95-4936-ADAA-4CED6DBDDA91}"/>
              </a:ext>
            </a:extLst>
          </p:cNvPr>
          <p:cNvSpPr>
            <a:spLocks noGrp="1"/>
          </p:cNvSpPr>
          <p:nvPr/>
        </p:nvSpPr>
        <p:spPr>
          <a:xfrm>
            <a:off x="9067800" y="5791200"/>
            <a:ext cx="2247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16177"/>
                </a:solidFill>
              </a:defRPr>
            </a:pPr>
            <a:r>
              <a:rPr sz="975" b="0">
                <a:solidFill>
                  <a:srgbClr val="516177"/>
                </a:solidFill>
              </a:rPr>
              <a:t>Report output and refinements keep the briefing package and improvement tracking inside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435874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0AB0C28-4598-4F78-B6E0-023E0B7A3EC1}"/>
              </a:ext>
            </a:extLst>
          </p:cNvPr>
          <p:cNvSpPr>
            <a:spLocks noGrp="1"/>
          </p:cNvSpPr>
          <p:nvPr/>
        </p:nvSpPr>
        <p:spPr>
          <a:xfrm>
            <a:off x="-1143000" y="-1143000"/>
            <a:ext cx="3429000" cy="342900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61CC50D-5929-45F6-B112-A62ECF042051}"/>
              </a:ext>
            </a:extLst>
          </p:cNvPr>
          <p:cNvSpPr>
            <a:spLocks noGrp="1"/>
          </p:cNvSpPr>
          <p:nvPr/>
        </p:nvSpPr>
        <p:spPr>
          <a:xfrm>
            <a:off x="9810750" y="-857250"/>
            <a:ext cx="2476500" cy="247650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EFAA27-B429-45E8-AB70-5691C734CE16}"/>
              </a:ext>
            </a:extLst>
          </p:cNvPr>
          <p:cNvSpPr>
            <a:spLocks noGrp="1"/>
          </p:cNvSpPr>
          <p:nvPr/>
        </p:nvSpPr>
        <p:spPr>
          <a:xfrm>
            <a:off x="9334500" y="5334000"/>
            <a:ext cx="2667000" cy="266700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56714D-98FE-4B30-83C2-DD243BE227D5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FUTURE POTENTIAL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EF03E-F102-4B98-9929-0A97E549EA83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07 / 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36D9F-3C3B-49C5-9C3C-C57698A5E9E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43B"/>
                </a:solidFill>
              </a:defRPr>
            </a:pPr>
            <a:r>
              <a:rPr sz="2550" b="1">
                <a:solidFill>
                  <a:srgbClr val="13243B"/>
                </a:solidFill>
              </a:rPr>
              <a:t>Future Potential Uses and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2F3EA9-6578-4608-9575-385AAF9D1BE1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16177"/>
                </a:solidFill>
              </a:defRPr>
            </a:pPr>
            <a:r>
              <a:rPr sz="1350" b="0">
                <a:solidFill>
                  <a:srgbClr val="516177"/>
                </a:solidFill>
              </a:rPr>
              <a:t>The current version already replaces manual budgeting; the next phase can turn it into a broader planning platform.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2FC05C-EC65-4DDC-9673-3A00FC90321C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147C50-D61D-443F-ADBB-BD661356A03A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3333750" cy="76200"/>
          </a:xfrm>
          <a:prstGeom prst="rect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34C50-972B-4A43-A183-F8D5CDA0DD2D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Near-term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79AE2-EF8B-4F0B-8A7F-563B6DEA7730}"/>
              </a:ext>
            </a:extLst>
          </p:cNvPr>
          <p:cNvSpPr>
            <a:spLocks noGrp="1"/>
          </p:cNvSpPr>
          <p:nvPr/>
        </p:nvSpPr>
        <p:spPr>
          <a:xfrm>
            <a:off x="857250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Improve the current operating loop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159DD43-3988-45A8-86AF-61FA5AEC7858}"/>
              </a:ext>
            </a:extLst>
          </p:cNvPr>
          <p:cNvSpPr>
            <a:spLocks noGrp="1"/>
          </p:cNvSpPr>
          <p:nvPr/>
        </p:nvSpPr>
        <p:spPr>
          <a:xfrm>
            <a:off x="857250" y="34575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A94B4A-1D9D-4241-BEE2-0DAF826DB87B}"/>
              </a:ext>
            </a:extLst>
          </p:cNvPr>
          <p:cNvSpPr>
            <a:spLocks noGrp="1"/>
          </p:cNvSpPr>
          <p:nvPr/>
        </p:nvSpPr>
        <p:spPr>
          <a:xfrm>
            <a:off x="1047750" y="33909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Role-based permissions and approval flow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441E6B-4BC7-46E6-8AC9-0D1F5608DE1E}"/>
              </a:ext>
            </a:extLst>
          </p:cNvPr>
          <p:cNvSpPr>
            <a:spLocks noGrp="1"/>
          </p:cNvSpPr>
          <p:nvPr/>
        </p:nvSpPr>
        <p:spPr>
          <a:xfrm>
            <a:off x="857250" y="39147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0BB86-F152-467F-B4BF-F75D11AC44F1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Saved report packs and leadership templates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682B40-7A3F-4D94-9774-7030FBDDA371}"/>
              </a:ext>
            </a:extLst>
          </p:cNvPr>
          <p:cNvSpPr>
            <a:spLocks noGrp="1"/>
          </p:cNvSpPr>
          <p:nvPr/>
        </p:nvSpPr>
        <p:spPr>
          <a:xfrm>
            <a:off x="857250" y="43719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1D8822-8410-40A2-9271-AAF484CC3DE5}"/>
              </a:ext>
            </a:extLst>
          </p:cNvPr>
          <p:cNvSpPr>
            <a:spLocks noGrp="1"/>
          </p:cNvSpPr>
          <p:nvPr/>
        </p:nvSpPr>
        <p:spPr>
          <a:xfrm>
            <a:off x="1047750" y="43053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More guided setup for new exercises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B5DC77-AB46-46BE-A0C5-B488353C4158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78E0A4-C298-4C80-8774-D3920B33CF13}"/>
              </a:ext>
            </a:extLst>
          </p:cNvPr>
          <p:cNvSpPr>
            <a:spLocks noGrp="1"/>
          </p:cNvSpPr>
          <p:nvPr/>
        </p:nvSpPr>
        <p:spPr>
          <a:xfrm>
            <a:off x="4429125" y="2571750"/>
            <a:ext cx="3333750" cy="76200"/>
          </a:xfrm>
          <a:prstGeom prst="rect">
            <a:avLst/>
          </a:prstGeom>
          <a:solidFill>
            <a:srgbClr val="1CB7A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E36858-2ACB-47CD-B384-CE1EAECE2A46}"/>
              </a:ext>
            </a:extLst>
          </p:cNvPr>
          <p:cNvSpPr>
            <a:spLocks noGrp="1"/>
          </p:cNvSpPr>
          <p:nvPr/>
        </p:nvSpPr>
        <p:spPr>
          <a:xfrm>
            <a:off x="4619625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Next expansion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C00E80-0998-4303-AA6F-EAFA464E7270}"/>
              </a:ext>
            </a:extLst>
          </p:cNvPr>
          <p:cNvSpPr>
            <a:spLocks noGrp="1"/>
          </p:cNvSpPr>
          <p:nvPr/>
        </p:nvSpPr>
        <p:spPr>
          <a:xfrm>
            <a:off x="4619625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Strengthen planning depth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DBA97C-A1ED-49C8-863E-2770FE732098}"/>
              </a:ext>
            </a:extLst>
          </p:cNvPr>
          <p:cNvSpPr>
            <a:spLocks noGrp="1"/>
          </p:cNvSpPr>
          <p:nvPr/>
        </p:nvSpPr>
        <p:spPr>
          <a:xfrm>
            <a:off x="4619625" y="34575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2682F-A90B-44B3-B64E-7DDFB68346E7}"/>
              </a:ext>
            </a:extLst>
          </p:cNvPr>
          <p:cNvSpPr>
            <a:spLocks noGrp="1"/>
          </p:cNvSpPr>
          <p:nvPr/>
        </p:nvSpPr>
        <p:spPr>
          <a:xfrm>
            <a:off x="4810125" y="33909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Scenario versioning and side-by-side comparisons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409080D-067C-414C-ACAF-B5E5698A3298}"/>
              </a:ext>
            </a:extLst>
          </p:cNvPr>
          <p:cNvSpPr>
            <a:spLocks noGrp="1"/>
          </p:cNvSpPr>
          <p:nvPr/>
        </p:nvSpPr>
        <p:spPr>
          <a:xfrm>
            <a:off x="4619625" y="39147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8310982-4663-4E35-8000-F5C1499F5656}"/>
              </a:ext>
            </a:extLst>
          </p:cNvPr>
          <p:cNvSpPr>
            <a:spLocks noGrp="1"/>
          </p:cNvSpPr>
          <p:nvPr/>
        </p:nvSpPr>
        <p:spPr>
          <a:xfrm>
            <a:off x="4810125" y="38481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Exercise history and trend snapshots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919116E-60F2-4304-B173-B798A2A9A8D6}"/>
              </a:ext>
            </a:extLst>
          </p:cNvPr>
          <p:cNvSpPr>
            <a:spLocks noGrp="1"/>
          </p:cNvSpPr>
          <p:nvPr/>
        </p:nvSpPr>
        <p:spPr>
          <a:xfrm>
            <a:off x="4619625" y="43719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378534-CB25-45D0-816C-DB559AEF615A}"/>
              </a:ext>
            </a:extLst>
          </p:cNvPr>
          <p:cNvSpPr>
            <a:spLocks noGrp="1"/>
          </p:cNvSpPr>
          <p:nvPr/>
        </p:nvSpPr>
        <p:spPr>
          <a:xfrm>
            <a:off x="4810125" y="43053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Portfolio view across multiple exercises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167300C-B6D9-426F-9DE6-D278903F9F31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333750" cy="1981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25A112-68C7-4B25-BAAC-5A731136A6DB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333750" cy="76200"/>
          </a:xfrm>
          <a:prstGeom prst="rect">
            <a:avLst/>
          </a:prstGeom>
          <a:solidFill>
            <a:srgbClr val="F3B9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DD6E68-0F64-406C-B03B-53B1FA7796FD}"/>
              </a:ext>
            </a:extLst>
          </p:cNvPr>
          <p:cNvSpPr>
            <a:spLocks noGrp="1"/>
          </p:cNvSpPr>
          <p:nvPr/>
        </p:nvSpPr>
        <p:spPr>
          <a:xfrm>
            <a:off x="8382000" y="27813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43B"/>
                </a:solidFill>
              </a:defRPr>
            </a:pPr>
            <a:r>
              <a:rPr sz="1350" b="1">
                <a:solidFill>
                  <a:srgbClr val="13243B"/>
                </a:solidFill>
              </a:rPr>
              <a:t>Strategic potential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6F3FCE-195A-4373-A50B-49843214FC20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B78FF"/>
                </a:solidFill>
              </a:defRPr>
            </a:pPr>
            <a:r>
              <a:rPr sz="900" b="1">
                <a:solidFill>
                  <a:srgbClr val="2B78FF"/>
                </a:solidFill>
              </a:rPr>
              <a:t>Turn the tool into decision support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CBCACE-07E1-4272-A0E4-97125511D234}"/>
              </a:ext>
            </a:extLst>
          </p:cNvPr>
          <p:cNvSpPr>
            <a:spLocks noGrp="1"/>
          </p:cNvSpPr>
          <p:nvPr/>
        </p:nvSpPr>
        <p:spPr>
          <a:xfrm>
            <a:off x="8382000" y="34575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1D112C-1C61-40E2-9F7E-B3BCB9193DFA}"/>
              </a:ext>
            </a:extLst>
          </p:cNvPr>
          <p:cNvSpPr>
            <a:spLocks noGrp="1"/>
          </p:cNvSpPr>
          <p:nvPr/>
        </p:nvSpPr>
        <p:spPr>
          <a:xfrm>
            <a:off x="8572500" y="33909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Forecasting for future budget posture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B6871D-BB61-494F-9054-A2AE48048350}"/>
              </a:ext>
            </a:extLst>
          </p:cNvPr>
          <p:cNvSpPr>
            <a:spLocks noGrp="1"/>
          </p:cNvSpPr>
          <p:nvPr/>
        </p:nvSpPr>
        <p:spPr>
          <a:xfrm>
            <a:off x="8382000" y="39147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B335C7-21E4-47AB-975D-C42162A03DA1}"/>
              </a:ext>
            </a:extLst>
          </p:cNvPr>
          <p:cNvSpPr>
            <a:spLocks noGrp="1"/>
          </p:cNvSpPr>
          <p:nvPr/>
        </p:nvSpPr>
        <p:spPr>
          <a:xfrm>
            <a:off x="8572500" y="38481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Recommendation support for staffing or travel changes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255B5BF-C989-4E2F-8430-9624F3BC98CF}"/>
              </a:ext>
            </a:extLst>
          </p:cNvPr>
          <p:cNvSpPr>
            <a:spLocks noGrp="1"/>
          </p:cNvSpPr>
          <p:nvPr/>
        </p:nvSpPr>
        <p:spPr>
          <a:xfrm>
            <a:off x="8382000" y="4371975"/>
            <a:ext cx="76200" cy="76200"/>
          </a:xfrm>
          <a:prstGeom prst="ellipse">
            <a:avLst/>
          </a:prstGeom>
          <a:solidFill>
            <a:srgbClr val="2B78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0D41B0-5743-4F2D-BE18-379D66EB9057}"/>
              </a:ext>
            </a:extLst>
          </p:cNvPr>
          <p:cNvSpPr>
            <a:spLocks noGrp="1"/>
          </p:cNvSpPr>
          <p:nvPr/>
        </p:nvSpPr>
        <p:spPr>
          <a:xfrm>
            <a:off x="8572500" y="4305300"/>
            <a:ext cx="276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3243B"/>
                </a:solidFill>
              </a:defRPr>
            </a:pPr>
            <a:r>
              <a:rPr sz="1275" b="0">
                <a:solidFill>
                  <a:srgbClr val="13243B"/>
                </a:solidFill>
              </a:rPr>
              <a:t>Cross-functional planning beyond a single briefing cycle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9016F62-7584-408E-9C27-C760B2CC8841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1085850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478">
            <a:solidFill>
              <a:srgbClr val="D6D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E238D5-380F-4C56-9398-CBA0470417ED}"/>
              </a:ext>
            </a:extLst>
          </p:cNvPr>
          <p:cNvSpPr>
            <a:spLocks noGrp="1"/>
          </p:cNvSpPr>
          <p:nvPr/>
        </p:nvSpPr>
        <p:spPr>
          <a:xfrm>
            <a:off x="914400" y="5295900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B78FF"/>
                </a:solidFill>
              </a:defRPr>
            </a:pPr>
            <a:r>
              <a:rPr sz="975" b="1">
                <a:solidFill>
                  <a:srgbClr val="2B78FF"/>
                </a:solidFill>
              </a:rPr>
              <a:t>Potential future use cases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359E305-EE4C-4952-B604-65B1899D7EB5}"/>
              </a:ext>
            </a:extLst>
          </p:cNvPr>
          <p:cNvSpPr>
            <a:spLocks noGrp="1"/>
          </p:cNvSpPr>
          <p:nvPr/>
        </p:nvSpPr>
        <p:spPr>
          <a:xfrm>
            <a:off x="2762250" y="5219700"/>
            <a:ext cx="1428750" cy="285750"/>
          </a:xfrm>
          <a:prstGeom prst="roundRect">
            <a:avLst>
              <a:gd name="adj" fmla="val 26667"/>
            </a:avLst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D4A3FF-48B3-4CDE-AFCD-E5FD52E2E657}"/>
              </a:ext>
            </a:extLst>
          </p:cNvPr>
          <p:cNvSpPr>
            <a:spLocks noGrp="1"/>
          </p:cNvSpPr>
          <p:nvPr/>
        </p:nvSpPr>
        <p:spPr>
          <a:xfrm>
            <a:off x="2895600" y="5286375"/>
            <a:ext cx="11620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Funding drills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329E190-0E57-43F5-8DEB-5CDD82610EFC}"/>
              </a:ext>
            </a:extLst>
          </p:cNvPr>
          <p:cNvSpPr>
            <a:spLocks noGrp="1"/>
          </p:cNvSpPr>
          <p:nvPr/>
        </p:nvSpPr>
        <p:spPr>
          <a:xfrm>
            <a:off x="4343400" y="5219700"/>
            <a:ext cx="1733550" cy="285750"/>
          </a:xfrm>
          <a:prstGeom prst="roundRect">
            <a:avLst>
              <a:gd name="adj" fmla="val 26667"/>
            </a:avLst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35C21C-88A2-495B-B2B2-7A98F94A8452}"/>
              </a:ext>
            </a:extLst>
          </p:cNvPr>
          <p:cNvSpPr>
            <a:spLocks noGrp="1"/>
          </p:cNvSpPr>
          <p:nvPr/>
        </p:nvSpPr>
        <p:spPr>
          <a:xfrm>
            <a:off x="4476750" y="5286375"/>
            <a:ext cx="1466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Scenario rehearsal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8C1E577-64B2-437B-838E-99BF71FD43E7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1885950" cy="285750"/>
          </a:xfrm>
          <a:prstGeom prst="roundRect">
            <a:avLst>
              <a:gd name="adj" fmla="val 26667"/>
            </a:avLst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29E9D3A-41DB-4119-A2A0-625C3EB0C3EB}"/>
              </a:ext>
            </a:extLst>
          </p:cNvPr>
          <p:cNvSpPr>
            <a:spLocks noGrp="1"/>
          </p:cNvSpPr>
          <p:nvPr/>
        </p:nvSpPr>
        <p:spPr>
          <a:xfrm>
            <a:off x="6362700" y="528637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After-action lessons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DEBA4B1-328A-4247-A6BD-EA1241584D00}"/>
              </a:ext>
            </a:extLst>
          </p:cNvPr>
          <p:cNvSpPr>
            <a:spLocks noGrp="1"/>
          </p:cNvSpPr>
          <p:nvPr/>
        </p:nvSpPr>
        <p:spPr>
          <a:xfrm>
            <a:off x="8267700" y="5219700"/>
            <a:ext cx="1581150" cy="285750"/>
          </a:xfrm>
          <a:prstGeom prst="roundRect">
            <a:avLst>
              <a:gd name="adj" fmla="val 26667"/>
            </a:avLst>
          </a:prstGeom>
          <a:solidFill>
            <a:srgbClr val="E8EE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9E91BE-FAB9-4BB8-B24C-01CBCD3FC8D4}"/>
              </a:ext>
            </a:extLst>
          </p:cNvPr>
          <p:cNvSpPr>
            <a:spLocks noGrp="1"/>
          </p:cNvSpPr>
          <p:nvPr/>
        </p:nvSpPr>
        <p:spPr>
          <a:xfrm>
            <a:off x="8401050" y="52863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Portfolio review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088596B-E984-4E50-990D-868009D6AD6C}"/>
              </a:ext>
            </a:extLst>
          </p:cNvPr>
          <p:cNvSpPr>
            <a:spLocks noGrp="1"/>
          </p:cNvSpPr>
          <p:nvPr/>
        </p:nvSpPr>
        <p:spPr>
          <a:xfrm>
            <a:off x="10001250" y="5219700"/>
            <a:ext cx="1581150" cy="285750"/>
          </a:xfrm>
          <a:prstGeom prst="roundRect">
            <a:avLst>
              <a:gd name="adj" fmla="val 26667"/>
            </a:avLst>
          </a:prstGeom>
          <a:solidFill>
            <a:srgbClr val="E4FB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FF0D354-4417-4CA6-9D09-92BEFBD606B3}"/>
              </a:ext>
            </a:extLst>
          </p:cNvPr>
          <p:cNvSpPr>
            <a:spLocks noGrp="1"/>
          </p:cNvSpPr>
          <p:nvPr/>
        </p:nvSpPr>
        <p:spPr>
          <a:xfrm>
            <a:off x="10134600" y="5286375"/>
            <a:ext cx="1314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0B1830"/>
                </a:solidFill>
              </a:defRPr>
            </a:pPr>
            <a:r>
              <a:rPr sz="825" b="1">
                <a:solidFill>
                  <a:srgbClr val="0B1830"/>
                </a:solidFill>
              </a:rPr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19280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BFCAF08-B091-4E0F-BF73-B31BF9B2F8AC}"/>
              </a:ext>
            </a:extLst>
          </p:cNvPr>
          <p:cNvSpPr>
            <a:spLocks noGrp="1"/>
          </p:cNvSpPr>
          <p:nvPr/>
        </p:nvSpPr>
        <p:spPr>
          <a:xfrm>
            <a:off x="-1047750" y="-762000"/>
            <a:ext cx="3429000" cy="3429000"/>
          </a:xfrm>
          <a:prstGeom prst="ellipse">
            <a:avLst/>
          </a:prstGeom>
          <a:solidFill>
            <a:srgbClr val="153A73">
              <a:alpha val="2509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D6892AF-271B-4C03-A6C5-B6248B575EC3}"/>
              </a:ext>
            </a:extLst>
          </p:cNvPr>
          <p:cNvSpPr>
            <a:spLocks noGrp="1"/>
          </p:cNvSpPr>
          <p:nvPr/>
        </p:nvSpPr>
        <p:spPr>
          <a:xfrm>
            <a:off x="9620250" y="-1143000"/>
            <a:ext cx="3143250" cy="3143250"/>
          </a:xfrm>
          <a:prstGeom prst="ellipse">
            <a:avLst/>
          </a:prstGeom>
          <a:solidFill>
            <a:srgbClr val="1CB7A6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289732-D400-4BCE-A7FB-D1972BC8F898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3619500" cy="3619500"/>
          </a:xfrm>
          <a:prstGeom prst="ellipse">
            <a:avLst/>
          </a:prstGeom>
          <a:solidFill>
            <a:srgbClr val="2B78FF">
              <a:alpha val="1254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B509B-788F-4FC5-9BB8-399F4023AA7C}"/>
              </a:ext>
            </a:extLst>
          </p:cNvPr>
          <p:cNvSpPr>
            <a:spLocks noGrp="1"/>
          </p:cNvSpPr>
          <p:nvPr/>
        </p:nvSpPr>
        <p:spPr>
          <a:xfrm>
            <a:off x="666750" y="38100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CLOSING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3A016E-16EF-41FD-8793-3DE210A58510}"/>
              </a:ext>
            </a:extLst>
          </p:cNvPr>
          <p:cNvSpPr>
            <a:spLocks noGrp="1"/>
          </p:cNvSpPr>
          <p:nvPr/>
        </p:nvSpPr>
        <p:spPr>
          <a:xfrm>
            <a:off x="10287000" y="381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CB7A6"/>
                </a:solidFill>
              </a:defRPr>
            </a:pPr>
            <a:r>
              <a:rPr sz="900" b="1">
                <a:solidFill>
                  <a:srgbClr val="1CB7A6"/>
                </a:solidFill>
              </a:rPr>
              <a:t>08 / 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9A4569-B5AA-42B1-8A30-0197B39C94F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65722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What This Enables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70116-C12B-4C79-9D9C-E6C751BC259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477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D8E2F0"/>
                </a:solidFill>
              </a:defRPr>
            </a:pPr>
            <a:r>
              <a:rPr sz="1350" b="0">
                <a:solidFill>
                  <a:srgbClr val="D8E2F0"/>
                </a:solidFill>
              </a:rPr>
              <a:t>Faster planning cycles. Cleaner leadership briefings. More confidence in the numbers.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6E4712-7912-41C4-B6EC-28787DD205D9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F5825D-3071-47C8-B883-3894FC433A8E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00050" cy="400050"/>
          </a:xfrm>
          <a:prstGeom prst="ellipse">
            <a:avLst/>
          </a:prstGeom>
          <a:solidFill>
            <a:srgbClr val="DCE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421985-7D11-4D28-8851-3A4D7160E330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F128CE-6EC2-49A7-BC0A-AD0528634F72}"/>
              </a:ext>
            </a:extLst>
          </p:cNvPr>
          <p:cNvSpPr>
            <a:spLocks noGrp="1"/>
          </p:cNvSpPr>
          <p:nvPr/>
        </p:nvSpPr>
        <p:spPr>
          <a:xfrm>
            <a:off x="140970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Faster decisions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0D0F90-11F9-416E-89CA-5121567EF2C1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Leaders can ask 'what if' questions and get an updated answer without a workbook rebuild.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0A4139-4BCE-406C-B80E-864CB9A0A068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066074-7CC8-4008-B6DA-AC4DC8D81354}"/>
              </a:ext>
            </a:extLst>
          </p:cNvPr>
          <p:cNvSpPr>
            <a:spLocks noGrp="1"/>
          </p:cNvSpPr>
          <p:nvPr/>
        </p:nvSpPr>
        <p:spPr>
          <a:xfrm>
            <a:off x="4629150" y="2857500"/>
            <a:ext cx="400050" cy="400050"/>
          </a:xfrm>
          <a:prstGeom prst="ellipse">
            <a:avLst/>
          </a:prstGeom>
          <a:solidFill>
            <a:srgbClr val="D9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8B17EE-C193-4AB4-9591-8B62A1E127F4}"/>
              </a:ext>
            </a:extLst>
          </p:cNvPr>
          <p:cNvSpPr>
            <a:spLocks noGrp="1"/>
          </p:cNvSpPr>
          <p:nvPr/>
        </p:nvSpPr>
        <p:spPr>
          <a:xfrm>
            <a:off x="474345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242B99-CCB2-4439-8F3C-669932DCC67E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More defensible briefs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C217B3-79CC-45FB-8B49-123F435DEC75}"/>
              </a:ext>
            </a:extLst>
          </p:cNvPr>
          <p:cNvSpPr>
            <a:spLocks noGrp="1"/>
          </p:cNvSpPr>
          <p:nvPr/>
        </p:nvSpPr>
        <p:spPr>
          <a:xfrm>
            <a:off x="464820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Every total ties back to structured unit inputs, rate assumptions, and repeatable logic.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0CCD4B-4E07-42D3-8F86-D7287EBE9161}"/>
              </a:ext>
            </a:extLst>
          </p:cNvPr>
          <p:cNvSpPr>
            <a:spLocks noGrp="1"/>
          </p:cNvSpPr>
          <p:nvPr/>
        </p:nvSpPr>
        <p:spPr>
          <a:xfrm>
            <a:off x="8172450" y="2667000"/>
            <a:ext cx="3352800" cy="1295400"/>
          </a:xfrm>
          <a:prstGeom prst="roundRect">
            <a:avLst>
              <a:gd name="adj" fmla="val 5882"/>
            </a:avLst>
          </a:prstGeom>
          <a:solidFill>
            <a:srgbClr val="11284B"/>
          </a:solidFill>
          <a:ln w="11430">
            <a:solidFill>
              <a:srgbClr val="2A46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250EEC4-1039-4D1A-95FA-B14D921E5FE2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400050" cy="400050"/>
          </a:xfrm>
          <a:prstGeom prst="ellipse">
            <a:avLst/>
          </a:prstGeom>
          <a:solidFill>
            <a:srgbClr val="FFF2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57F318-7ECF-470C-9E73-3474417E5F62}"/>
              </a:ext>
            </a:extLst>
          </p:cNvPr>
          <p:cNvSpPr>
            <a:spLocks noGrp="1"/>
          </p:cNvSpPr>
          <p:nvPr/>
        </p:nvSpPr>
        <p:spPr>
          <a:xfrm>
            <a:off x="849630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1830"/>
                </a:solidFill>
              </a:defRPr>
            </a:pPr>
            <a:r>
              <a:rPr sz="1050" b="1">
                <a:solidFill>
                  <a:srgbClr val="0B1830"/>
                </a:solidFill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721420-A87F-475B-A9FC-9904EBC8000C}"/>
              </a:ext>
            </a:extLst>
          </p:cNvPr>
          <p:cNvSpPr>
            <a:spLocks noGrp="1"/>
          </p:cNvSpPr>
          <p:nvPr/>
        </p:nvSpPr>
        <p:spPr>
          <a:xfrm>
            <a:off x="8915400" y="2857500"/>
            <a:ext cx="2438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Better continuity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F03B97-31B3-4062-8023-DD91E904740D}"/>
              </a:ext>
            </a:extLst>
          </p:cNvPr>
          <p:cNvSpPr>
            <a:spLocks noGrp="1"/>
          </p:cNvSpPr>
          <p:nvPr/>
        </p:nvSpPr>
        <p:spPr>
          <a:xfrm>
            <a:off x="8401050" y="3314700"/>
            <a:ext cx="28956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8E2F0"/>
                </a:solidFill>
              </a:defRPr>
            </a:pPr>
            <a:r>
              <a:rPr sz="1125" b="0">
                <a:solidFill>
                  <a:srgbClr val="D8E2F0"/>
                </a:solidFill>
              </a:rPr>
              <a:t>Refinements, exports, clear actions, and undo reduce rework across the full preparation cycle.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463A44-B97A-46DC-A9EF-65E521313EF3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858500" cy="628650"/>
          </a:xfrm>
          <a:prstGeom prst="roundRect">
            <a:avLst>
              <a:gd name="adj" fmla="val 12121"/>
            </a:avLst>
          </a:prstGeom>
          <a:solidFill>
            <a:srgbClr val="11284B"/>
          </a:solidFill>
          <a:ln w="10478">
            <a:solidFill>
              <a:srgbClr val="294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BB7037-7C00-4393-90BE-9B5D3B629D9E}"/>
              </a:ext>
            </a:extLst>
          </p:cNvPr>
          <p:cNvSpPr>
            <a:spLocks noGrp="1"/>
          </p:cNvSpPr>
          <p:nvPr/>
        </p:nvSpPr>
        <p:spPr>
          <a:xfrm>
            <a:off x="933450" y="5915025"/>
            <a:ext cx="10325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Patriot Medic is already a stronger planning surface than a spreadsheet and is positioned to grow into a broader decision-support platform.</a:t>
            </a:r>
          </a:p>
        </p:txBody>
      </p:sp>
    </p:spTree>
    <p:extLst>
      <p:ext uri="{BB962C8B-B14F-4D97-AF65-F5344CB8AC3E}">
        <p14:creationId xmlns:p14="http://schemas.microsoft.com/office/powerpoint/2010/main" val="4108810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1407</Words>
  <Application>Microsoft Office PowerPoint</Application>
  <DocSecurity>0</DocSecurity>
  <PresentationFormat>Widescreen</PresentationFormat>
  <Paragraphs>197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Cullen Henderson</cp:lastModifiedBy>
  <cp:revision>1</cp:revision>
  <dcterms:created xsi:type="dcterms:W3CDTF">2026-04-23T22:51:24Z</dcterms:created>
  <dcterms:modified xsi:type="dcterms:W3CDTF">2026-04-23T23:02:38Z</dcterms:modified>
</cp:coreProperties>
</file>